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s/charts/chart1.xml" ContentType="application/vnd.openxmlformats-officedocument.drawingml.chart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9" Type="http://schemas.openxmlformats.org/officeDocument/2006/relationships/slide" Target="slides/slide9.xml" /><Relationship Id="rId3" Type="http://schemas.openxmlformats.org/officeDocument/2006/relationships/slide" Target="slides/slide3.xml" /><Relationship Id="rId16" Type="http://schemas.openxmlformats.org/officeDocument/2006/relationships/notesMaster" Target="notesMasters/notesMaster1.xml" /><Relationship Id="rId15" Type="http://schemas.openxmlformats.org/officeDocument/2006/relationships/slide" Target="slides/slide15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7" Type="http://schemas.openxmlformats.org/officeDocument/2006/relationships/presProps" Target="presProps.xml" /><Relationship Id="rId7" Type="http://schemas.openxmlformats.org/officeDocument/2006/relationships/slide" Target="slides/slide7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pPr>
              <a:defRPr sz="1350">
                <a:solidFill>
                  <a:srgbClr val="0E3F8C"/>
                </a:solidFill>
              </a:defRPr>
            </a:pPr>
            <a:r>
              <a:rPr sz="1350">
                <a:solidFill>
                  <a:srgbClr val="0E3F8C"/>
                </a:solidFill>
              </a:rPr>
              <a:t>演示条数与成功率（%）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E3F8C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成功率</c:v>
                </c:pt>
              </c:strCache>
            </c:strRef>
          </c:tx>
          <c:spPr>
            <a:solidFill>
              <a:srgbClr val="1E4FA8"/>
            </a:solidFill>
          </c:spPr>
          <c:dLbls>
            <c:txPr>
              <a:bodyPr/>
              <a:p>
                <a:pPr>
                  <a:defRPr sz="750">
                    <a:solidFill>
                      <a:srgbClr val="1A2230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1 条</c:v>
                </c:pt>
                <c:pt idx="1">
                  <c:v>2 条</c:v>
                </c:pt>
                <c:pt idx="2">
                  <c:v>4 条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22.5</c:v>
                </c:pt>
                <c:pt idx="1">
                  <c:v>24</c:v>
                </c:pt>
                <c:pt idx="2">
                  <c:v>19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solidFill>
          <a:srgbClr val="F7F9FC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14400" y="647700"/>
            <a:ext cx="1036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8B97A8"/>
                </a:solidFill>
                <a:latin typeface="Microsoft YaHei"/>
                <a:ea typeface="Microsoft YaHei"/>
              </a:rPr>
              <a:t>组会分享</a:t>
            </a:r>
            <a:r>
              <a:rPr lang="en-US" sz="1125" spc="1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150">
                <a:solidFill>
                  <a:srgbClr val="8B97A8"/>
                </a:solidFill>
                <a:latin typeface="Microsoft YaHei"/>
                <a:ea typeface="Microsoft YaHei"/>
              </a:rPr>
              <a:t>具身智能操作方向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952500"/>
            <a:ext cx="10363200" cy="10001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700" b="1">
                <a:solidFill>
                  <a:srgbClr val="0E3F8C"/>
                </a:solidFill>
                <a:latin typeface="Microsoft YaHei"/>
                <a:ea typeface="Microsoft YaHei"/>
              </a:rPr>
              <a:t>演示即上下文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1990725"/>
            <a:ext cx="10363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spc="300">
                <a:solidFill>
                  <a:srgbClr val="3D7BD9"/>
                </a:solidFill>
                <a:latin typeface="Microsoft YaHei"/>
                <a:ea typeface="Microsoft YaHei"/>
              </a:rPr>
              <a:t>DEMONSTRATION AS CONTEXT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914400" y="2505075"/>
            <a:ext cx="8382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2724150"/>
            <a:ext cx="8572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给机器人一条人做事的录像，它能不能直接上手——这条线走到了哪一步、</a:t>
            </a:r>
            <a:r>
              <a:rPr lang="en-US" sz="17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三个和我们直觉相反的发现，以及我们准备补上的测量。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3829050"/>
            <a:ext cx="10363200" cy="2209800"/>
          </a:xfrm>
          <a:prstGeom prst="rect">
            <a:avLst/>
          </a:prstGeom>
          <a:ln/>
        </p:spPr>
      </p:pic>
      <p:sp>
        <p:nvSpPr>
          <p:cNvPr id="10" name=""/>
          <p:cNvSpPr/>
          <p:nvPr/>
        </p:nvSpPr>
        <p:spPr>
          <a:xfrm rot="0" flipH="0" flipV="0">
            <a:off x="0" y="6172200"/>
            <a:ext cx="12192000" cy="685800"/>
          </a:xfrm>
          <a:custGeom>
            <a:pathLst>
              <a:path w="1280" h="7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14400" y="64389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数字技术研究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操作与灵巧手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010775" y="6438900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27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3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height: 710, flexDirection: 'row' }}&gt;&#10;            &lt;Box style={{ width: 360, height: 710, background: '#0E3F8C', padding: '54px 40px', flexDirection: 'column', justifyContent: 'space-between' }}&gt;&#10;                &lt;Box style={{ flexDirection: 'column' }}&gt;&#10;                    &lt;Text style={{ fontSize: 54, fontWeight: 'bold', color: '#FFFFFF', lineHeight: 1.2 }}&gt;目录&lt;/Text&gt;&#10;                    &lt;Text style={{ fontSize: 15, color: '#9DB6DC', letterSpacing: 4, marginTop: 8 }}&gt;CONTENTS&lt;/Text&gt;&#10;                    &lt;Box style={{ width: 56, height: 3, background: '#FFC107', marginTop: 26 }} /&gt;&#10;                &lt;/Box&gt;&#10;                &lt;Box style={{ flexDirection: 'column' }}&gt;&#10;                    &lt;Box style={{ width: 280, height: 1, background: '#2A5AA8', marginBottom: 20 }} /&gt;&#10;                    &lt;Text style={{ fontSize: 15, color: '#9DB6DC', lineHeight: 1.85 }}&gt;&#10;                        四个部分，从&quot;这条路在问什么&quot;讲到&quot;我们准备补什么测量&quot;。&#10;                    &lt;/Text&gt;&#10;                &lt;/Box&gt;&#10;            &lt;/Box&gt;&#10;&#10;            &lt;Box style={{ flex: 1, flexDirection: 'column' }}&gt;&#10;                &lt;Box style={{ flex: 1, padding: '42px 72px 44px 56px', flexDirection: 'column', justifyContent: 'space-between' }}&gt;&#10;                    &lt;Box style={{ flexDirection: 'row', alignItems: 'flex-start', borderBottom: '1px solid #E5E7EB', paddingBottom: 18 }}&gt;&#10;                        &lt;Text style={{ width: 76, fontSize: 34, fontWeight: 'bold', color: '#1E4FA8' }}&gt;01&lt;/Text&gt;&#10;                        &lt;Box style={{ flex: 1, flexDirection: 'column' }}&gt;&#10;                            &lt;Text style={{ fontSize: 30, fontWeight: 'bold', color: '#1A2230' }}&gt;这个方向在问什么&lt;/Text&gt;&#10;                            &lt;Text style={{ fontSize: 17, color: '#4A5568', lineHeight: 1.6, marginTop: 6 }}&gt;&#10;                                一条演示进来，机器人靠什么直接上手：找、对、放三步。&#10;                            &lt;/Text&gt;&#10;                        &lt;/Box&gt;&#10;                    &lt;/Box&gt;&#10;&#10;                    &lt;Box style={{ flexDirection: 'row', alignItems: 'flex-start', borderBottom: '1px solid #E5E7EB', paddingBottom: 18 }}&gt;&#10;                        &lt;Text style={{ width: 76, fontSize: 34, fontWeight: 'bold', color: '#1E4FA8' }}&gt;02&lt;/Text&gt;&#10;                        &lt;Box style={{ flex: 1, flexDirection: 'column' }}&gt;&#10;                            &lt;Text style={{ fontSize: 30, fontWeight: 'bold', color: '#1A2230' }}&gt;前人走到哪一步&lt;/Text&gt;&#10;                            &lt;Text style={{ fontSize: 17, color: '#4A5568', lineHeight: 1.6, marginTop: 6 }}&gt;&#10;                                三代做法的分界线，以及&quot;上下文&quot;这个词被用来指的三件不同的事。&#10;                            &lt;/Text&gt;&#10;                        &lt;/Box&gt;&#10;                    &lt;/Box&gt;&#10;&#10;                    &lt;Box style={{ flexDirection: 'row', alignItems: 'flex-start', borderBottom: '1px solid #E5E7EB', paddingBottom: 18 }}&gt;&#10;                        &lt;Text style={{ width: 76, fontSize: 34, fontWeight: 'bold', color: '#1E4FA8' }}&gt;03&lt;/Text&gt;&#10;                        &lt;Box style={{ flex: 1, flexDirection: 'column' }}&gt;&#10;                            &lt;Text style={{ fontSize: 30, fontWeight: 'bold', color: '#1A2230' }}&gt;三个没料到的发现&lt;/Text&gt;&#10;                            &lt;Text style={{ fontSize: 17, color: '#4A5568', lineHeight: 1.6, marginTop: 6 }}&gt;&#10;                                更多上下文反而更差、默认评测分辨不出五个点、三种错误会互相伪装。&#10;                            &lt;/Text&gt;&#10;                        &lt;/Box&gt;&#10;                    &lt;/Box&gt;&#10;&#10;                    &lt;Box style={{ flexDirection: 'row', alignItems: 'flex-start' }}&gt;&#10;                        &lt;Text style={{ width: 76, fontSize: 34, fontWeight: 'bold', color: '#1E4FA8' }}&gt;04&lt;/Text&gt;&#10;                        &lt;Box style={{ flex: 1, flexDirection: 'column' }}&gt;&#10;                            &lt;Text style={{ fontSize: 30, fontWeight: 'bold', color: '#1A2230' }}&gt;接下来要做什么&lt;/Text&gt;&#10;                            &lt;Text style={{ fontSize: 17, color: '#4A5568', lineHeight: 1.6, marginTop: 6 }}&gt;&#10;                                三件能被别人复算的测量，以及需要团队配合的地方。&#10;                            &lt;/Text&gt;&#10;                        &lt;/Box&gt;&#10;                    &lt;/Box&gt;&#10;                &lt;/Box&gt;&#10;&#10;                &lt;Box style={{ height: 62, padding: '0 72px 18px 56px', flexDirection: 'row', alignItems: 'flex-end', justifyContent: 'space-between' }}&gt;&#10;                    &lt;Text style={{ fontSize: 14, color: '#8B97A8' }}&gt;演示即上下文 · 组会分享&lt;/Text&gt;&#10;                    &lt;Text style={{ fontSize: 16, fontWeight: 'bold', color: '#1E4FA8' }}&gt;02 / 15&lt;/Text&gt;&#10;                &lt;/Box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0" y="95250"/>
            <a:ext cx="3429000" cy="6762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609600"/>
            <a:ext cx="2667000" cy="7429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81000" y="142875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9DB6DC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381000" y="1847850"/>
            <a:ext cx="5334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381000" y="5505450"/>
            <a:ext cx="2667000" cy="9525"/>
          </a:xfrm>
          <a:prstGeom prst="rect">
            <a:avLst/>
          </a:prstGeom>
          <a:solidFill>
            <a:srgbClr val="2A5AA8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381000" y="5705475"/>
            <a:ext cx="26670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DB6DC"/>
                </a:solidFill>
                <a:latin typeface="Microsoft YaHei"/>
                <a:ea typeface="Microsoft YaHei"/>
              </a:rPr>
              <a:t>四个部分，从</a:t>
            </a:r>
            <a:r>
              <a:rPr lang="en-US" sz="1125">
                <a:solidFill>
                  <a:srgbClr val="9DB6D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9DB6DC"/>
                </a:solidFill>
                <a:latin typeface="Microsoft YaHei"/>
                <a:ea typeface="Microsoft YaHei"/>
              </a:rPr>
              <a:t>这条路在问什么</a:t>
            </a:r>
            <a:r>
              <a:rPr lang="en-US" sz="1125">
                <a:solidFill>
                  <a:srgbClr val="9DB6D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9DB6DC"/>
                </a:solidFill>
                <a:latin typeface="Microsoft YaHei"/>
                <a:ea typeface="Microsoft YaHei"/>
              </a:rPr>
              <a:t>讲到</a:t>
            </a:r>
            <a:r>
              <a:rPr lang="en-US" sz="1125">
                <a:solidFill>
                  <a:srgbClr val="9DB6D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9DB6DC"/>
                </a:solidFill>
                <a:latin typeface="Microsoft YaHei"/>
                <a:ea typeface="Microsoft YaHei"/>
              </a:rPr>
              <a:t>我们准备补什么测量</a:t>
            </a:r>
            <a:r>
              <a:rPr lang="en-US" sz="1125">
                <a:solidFill>
                  <a:srgbClr val="9DB6D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9DB6D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3962400" y="495300"/>
            <a:ext cx="7543800" cy="904875"/>
          </a:xfrm>
          <a:custGeom>
            <a:pathLst>
              <a:path w="792" h="95">
                <a:moveTo>
                  <a:pt x="0" y="94"/>
                </a:moveTo>
                <a:lnTo>
                  <a:pt x="792" y="94"/>
                </a:lnTo>
                <a:lnTo>
                  <a:pt x="792" y="95"/>
                </a:lnTo>
                <a:lnTo>
                  <a:pt x="0" y="9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962400" y="495300"/>
            <a:ext cx="72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686300" y="495300"/>
            <a:ext cx="6819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这个方向在问什么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686300" y="895350"/>
            <a:ext cx="6819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一条演示进来，机器人靠什么直接上手：找、对、放三步。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962400" y="2038350"/>
            <a:ext cx="7543800" cy="904875"/>
          </a:xfrm>
          <a:custGeom>
            <a:pathLst>
              <a:path w="792" h="95">
                <a:moveTo>
                  <a:pt x="0" y="94"/>
                </a:moveTo>
                <a:lnTo>
                  <a:pt x="792" y="94"/>
                </a:lnTo>
                <a:lnTo>
                  <a:pt x="792" y="95"/>
                </a:lnTo>
                <a:lnTo>
                  <a:pt x="0" y="9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962400" y="2038350"/>
            <a:ext cx="72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686300" y="2038350"/>
            <a:ext cx="6819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前人走到哪一步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686300" y="2438400"/>
            <a:ext cx="6819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三代做法的分界线，以及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上下文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这个词被用来指的三件不同的事。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3962400" y="3590925"/>
            <a:ext cx="7543800" cy="904875"/>
          </a:xfrm>
          <a:custGeom>
            <a:pathLst>
              <a:path w="792" h="95">
                <a:moveTo>
                  <a:pt x="0" y="94"/>
                </a:moveTo>
                <a:lnTo>
                  <a:pt x="792" y="94"/>
                </a:lnTo>
                <a:lnTo>
                  <a:pt x="792" y="95"/>
                </a:lnTo>
                <a:lnTo>
                  <a:pt x="0" y="9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962400" y="3590925"/>
            <a:ext cx="72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686300" y="3590925"/>
            <a:ext cx="6819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三个没料到的发现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686300" y="3990975"/>
            <a:ext cx="6819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更多上下文反而更差、默认评测分辨不出五个点、三种错误会互相伪装。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962400" y="5133975"/>
            <a:ext cx="72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686300" y="5133975"/>
            <a:ext cx="6819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接下来要做什么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686300" y="5534025"/>
            <a:ext cx="6819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三件能被别人复算的测量，以及需要团队配合的地方。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962400" y="6524625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演示即上下文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组会分享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039475" y="649605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99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height: 710, flexDirection: 'row' }}&gt;&#10;            &lt;Box style={{ width: 470, height: 710, background: '#0E3F8C', padding: '96px 48px', flexDirection: 'column', justifyContent: 'space-between' }}&gt;&#10;                &lt;Box&gt;&#10;                    &lt;Text style={{ fontSize: 16, color: '#9DB6DC', letterSpacing: 3 }}&gt;第一部分&lt;/Text&gt;&#10;                    &lt;Text style={{ fontSize: 190, fontWeight: 'bold', color: '#FFFFFF', lineHeight: 1.0, marginTop: 18 }}&gt;01&lt;/Text&gt;&#10;                    &lt;Box style={{ width: 64, height: 4, background: '#FFC107', marginTop: 26 }} /&gt;&#10;                &lt;/Box&gt;&#10;                &lt;Box style={{ flexDirection: 'column' }}&gt;&#10;                    &lt;Text style={{ fontSize: 15, color: '#9DB6DC', lineHeight: 1.8 }}&gt;&#10;                    先把问题说清楚，再谈文献。&#10;                    &lt;/Text&gt;&#10;                    &lt;Text style={{ fontSize: 15, fontWeight: 'bold', color: '#FFC107', marginTop: 12, letterSpacing: 1 }}&gt;03 / 15&lt;/Text&gt;&#10;                &lt;/Box&gt;&#10;            &lt;/Box&gt;&#10;&#10;            &lt;Box style={{ flex: 1, padding: '112px 96px 0 72px', flexDirection: 'column' }}&gt;&#10;                &lt;Text style={{ fontSize: 40, fontWeight: 'bold', color: '#0E3F8C', lineHeight: 1.3 }}&gt;&#10;                    这个方向在问什么&#10;                &lt;/Text&gt;&#10;                &lt;Text style={{ fontSize: 19, color: '#4A5568', lineHeight: 1.7, marginTop: 16 }}&gt;&#10;                    一句话：能不能让机器人&quot;看一条人做事的录像&quot;就上手，&#10;                    而且不为此重新训练一个模型。&#10;                &lt;/Text&gt;&#10;&#10;                &lt;Box style={{ flexDirection: 'column', gap: 18, marginTop: 34 }}&gt;&#10;                    &lt;Box style={{ flexDirection: 'row', alignItems: 'flex-start' }}&gt;&#10;                        &lt;Box style={{ width: 8, height: 8, background: '#1E4FA8', marginTop: 12, marginRight: 16 }} /&gt;&#10;                        &lt;Text style={{ flex: 1, fontSize: 20, color: '#1A2230', lineHeight: 1.65 }}&gt;&#10;                            要解决的不是&quot;更准&quot;，而是&quot;新任务不用训&quot;——这是它和主流端到端训练最根本的差别。&#10;                        &lt;/Text&gt;&#10;                    &lt;/Box&gt;&#10;                    &lt;Box style={{ flexDirection: 'row', alignItems: 'flex-start' }}&gt;&#10;                        &lt;Box style={{ width: 8, height: 8, background: '#1E4FA8', marginTop: 12, marginRight: 16 }} /&gt;&#10;                        &lt;Text style={{ flex: 1, fontSize: 20, color: '#1A2230', lineHeight: 1.65 }}&gt;&#10;                            这条路的价值还在于&quot;失败能定位&quot;：找错了、对不齐、还是执行不了，可以分开查。&#10;                        &lt;/Text&gt;&#10;                    &lt;/Box&gt;&#10;                    &lt;Box style={{ flexDirection: 'row', alignItems: 'flex-start' }}&gt;&#10;                        &lt;Box style={{ width: 8, height: 8, background: '#1E4FA8', marginTop: 12, marginRight: 16 }} /&gt;&#10;                        &lt;Text style={{ flex: 1, fontSize: 20, color: '#1A2230', lineHeight: 1.65 }}&gt;&#10;                            代价也很清楚：单臂、开环、演示和部署时物体的摆放不能差太多。&#10;                        &lt;/Text&gt;&#10;                    &lt;/Box&gt;&#10;                &lt;/Box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0" y="95250"/>
            <a:ext cx="4476750" cy="6762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57200" y="1009650"/>
            <a:ext cx="3562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9DB6DC"/>
                </a:solidFill>
                <a:latin typeface="Microsoft YaHei"/>
                <a:ea typeface="Microsoft YaHei"/>
              </a:rPr>
              <a:t>第一部分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57200" y="1371600"/>
            <a:ext cx="356235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57200" y="37909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57200" y="5343525"/>
            <a:ext cx="356235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DB6DC"/>
                </a:solidFill>
                <a:latin typeface="Microsoft YaHei"/>
                <a:ea typeface="Microsoft YaHei"/>
              </a:rPr>
              <a:t>先把问题说清楚，再谈文献。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57200" y="577215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FFC107"/>
                </a:solidFill>
                <a:latin typeface="Microsoft YaHei"/>
                <a:ea typeface="Microsoft YaHei"/>
              </a:rPr>
              <a:t>03 / 15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162550" y="1162050"/>
            <a:ext cx="611505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0E3F8C"/>
                </a:solidFill>
                <a:latin typeface="Microsoft YaHei"/>
                <a:ea typeface="Microsoft YaHei"/>
              </a:rPr>
              <a:t>这个方向在问什么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162550" y="1914525"/>
            <a:ext cx="611505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一句话：能不能让机器人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看一条人做事的录像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就上手，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而且不为此重新训练一个模型。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5162550" y="30956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391150" y="2981325"/>
            <a:ext cx="58864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要解决的不是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更准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，而是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新任务不用训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"——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这是它和主流端到端训练最根本的差别。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5162550" y="402907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391150" y="3914775"/>
            <a:ext cx="58864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这条路的价值还在于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失败能定位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：找错了、对不齐、还是执行不了，可以分开查。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162550" y="49625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391150" y="4848225"/>
            <a:ext cx="5886450" cy="381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代价也很清楚：单臂、开环、演示和部署时物体的摆放不能差太多。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216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padding: '30px 96px 0 96px', flexDirection: 'column' }}&gt;&#10;            &lt;Text style={{ fontSize: 34, fontWeight: 'bold', color: '#0E3F8C' }}&gt;一条演示进来，机器人靠什么直接上手&lt;/Text&gt;&#10;            &lt;Text style={{ fontSize: 17, color: '#8B97A8', marginTop: 4 }}&gt;&#10;                整条链路只有四步，而且每一步都能单独出问题&#10;            &lt;/Text&gt;&#10;        &lt;/Box&gt;&#10;&#10;        &lt;Box style={{ width: 1280, height: 486, flexDirection: 'row', padding: '18px 96px 0 96px' }}&gt;&#10;            &lt;Box style={{ width: 748, height: 466 }}&gt;&#10;                &lt;svg width={748} height={466} viewBox='0 0 748 466'&gt;&#10;                    &lt;rect x='0' y='0' width='748' height='466' fill='#F7F9FC' rx='6' /&gt;&#10;&#10;                    &lt;rect x='22' y='16' width='540' height='92' fill='#FFFFFF' stroke='#D6DCE5' rx='4' /&gt;&#10;                    &lt;circle cx='56' cy='62' r='16' fill='#1E4FA8' /&gt;&#10;                    &lt;text x='56' y='68' textAnchor='middle' fontSize='15' fill='#FFFFFF' fontWeight='bold'&gt;1&lt;/text&gt;&#10;                    &lt;text x='86' y='52' fontSize='18' fill='#1A2230' fontWeight='bold'&gt;听懂要做的事&lt;/text&gt;&#10;                    &lt;text x='86' y='80' fontSize='14' fill='#4A5568'&gt;一句话 → 拆成抓、放、擦、拧这类动作名&lt;/text&gt;&#10;                    &lt;rect x='586' y='44' width='140' height='36' fill='#E8EFF8' rx='18' /&gt;&#10;                    &lt;text x='656' y='67' textAnchor='middle' fontSize='14' fill='#0E3F8C'&gt;得到动作名&lt;/text&gt;&#10;&#10;                    &lt;rect x='22' y='124' width='540' height='92' fill='#FFFFFF' stroke='#D6DCE5' rx='4' /&gt;&#10;                    &lt;circle cx='56' cy='170' r='16' fill='#1E4FA8' /&gt;&#10;                    &lt;text x='56' y='176' textAnchor='middle' fontSize='15' fill='#FFFFFF' fontWeight='bold'&gt;2&lt;/text&gt;&#10;                    &lt;text x='86' y='160' fontSize='18' fill='#1A2230' fontWeight='bold'&gt;在库里找一条最像的演示&lt;/text&gt;&#10;                    &lt;text x='86' y='188' fontSize='14' fill='#4A5568'&gt;当前物体点云 vs 库里每条演示首帧，取最近的一条&lt;/text&gt;&#10;                    &lt;rect x='586' y='152' width='140' height='36' fill='#E8EFF8' rx='18' /&gt;&#10;                    &lt;text x='656' y='175' textAnchor='middle' fontSize='14' fill='#0E3F8C'&gt;得到一条演示&lt;/text&gt;&#10;&#10;                    &lt;rect x='22' y='232' width='540' height='92' fill='#FFFFFF' stroke='#D6DCE5' rx='4' /&gt;&#10;                    &lt;circle cx='56' cy='278' r='16' fill='#1E4FA8' /&gt;&#10;                    &lt;text x='56' y='284' textAnchor='middle' fontSize='15' fill='#FFFFFF' fontWeight='bold'&gt;3&lt;/text&gt;&#10;                    &lt;text x='86' y='268' fontSize='18' fill='#1A2230' fontWeight='bold'&gt;把演示轨迹对到当前物体上&lt;/text&gt;&#10;                    &lt;text x='86' y='296' fontSize='14' fill='#4A5568'&gt;估物体位姿，整体搬运轨迹，再规划一条不撞的路&lt;/text&gt;&#10;                    &lt;rect x='586' y='260' width='140' height='36' fill='#E8EFF8' rx='18' /&gt;&#10;                    &lt;text x='656' y='283' textAnchor='middle' fontSize='14' fill='#0E3F8C'&gt;得到一条路径&lt;/text&gt;&#10;&#10;                    &lt;rect x='22' y='340' width='540' height='92' fill='#E8EFF8' stroke='#1E4FA8' rx='4' /&gt;&#10;                    &lt;circle cx='56' cy='386' r='16' fill='#0E3F8C' /&gt;&#10;                    &lt;text x='56' y='392' textAnchor='middle' fontSize='15' fill='#FFFFFF' fontWeight='bold'&gt;4&lt;/text&gt;&#10;                    &lt;text x='86' y='376' fontSize='18' fill='#0E3F8C' fontWeight='bold'&gt;照着重放&lt;/text&gt;&#10;                    &lt;text x='86' y='404' fontSize='14' fill='#4A5568'&gt;按演示的末端轨迹和夹爪开合重放；这一段开环&lt;/text&gt;&#10;                    &lt;rect x='586' y='368' width='140' height='36' fill='#FFFFFF' stroke='#1E4FA8' rx='18' /&gt;&#10;                    &lt;text x='656' y='391' textAnchor='middle' fontSize='14' fill='#0E3F8C'&gt;直接执行&lt;/text&gt;&#10;                &lt;/svg&gt;&#10;            &lt;/Box&gt;&#10;&#10;            &lt;Box style={{ flex: 1, paddingLeft: 30, flexDirection: 'column', justifyContent: 'space-between' }}&gt;&#10;                &lt;Box style={{ flexDirection: 'column' }}&gt;&#10;                    &lt;Text style={{ fontSize: 21, fontWeight: 'bold', color: '#1E4FA8' }}&gt;为什么值得研究&lt;/Text&gt;&#10;                    &lt;Box style={{ width: 44, height: 3, background: '#1E4FA8', marginTop: 8, marginBottom: 14 }} /&gt;&#10;&#10;                    &lt;Box style={{ flexDirection: 'column', gap: 14 }}&gt;&#10;                        &lt;Box style={{ flexDirection: 'column' }}&gt;&#10;                            &lt;Text style={{ fontSize: 18, fontWeight: 'bold', color: '#1A2230' }}&gt;新任务不用训&lt;/Text&gt;&#10;                            &lt;Text style={{ fontSize: 15, color: '#4A5568', lineHeight: 1.55, marginTop: 3 }}&gt;&#10;                                加一条演示就是加一行数据，不更新任何参数。&#10;                            &lt;/Text&gt;&#10;                        &lt;/Box&gt;&#10;                        &lt;Box style={{ flexDirection: 'column' }}&gt;&#10;                            &lt;Text style={{ fontSize: 18, fontWeight: 'bold', color: '#1A2230' }}&gt;失败能定位&lt;/Text&gt;&#10;                            &lt;Text style={{ fontSize: 15, color: '#4A5568', lineHeight: 1.55, marginTop: 3 }}&gt;&#10;                                找错了、对不齐、还是执行不了，三个环节能分开查。&#10;                            &lt;/Text&gt;&#10;                        &lt;/Box&gt;&#10;                        &lt;Box style={{ flexDirection: 'column' }}&gt;&#10;                            &lt;Text style={{ fontSize: 18, fontWeight: 'bold', color: '#1A2230' }}&gt;库可以一直攒&lt;/Text&gt;&#10;                            &lt;Text style={{ fontSize: 15, color: '#4A5568', lineHeight: 1.55, marginTop: 3 }}&gt;&#10;                                演示越多，越可能撞上差不多能用的那一条。&#10;                            &lt;/Text&gt;&#10;                        &lt;/Box&gt;&#10;                    &lt;/Box&gt;&#10;                &lt;/Box&gt;&#10;&#10;                &lt;Box style={{ background: '#F0F5FC', borderLeft: '3px solid #D9534F', padding: '10px 12px' }}&gt;&#10;                    &lt;Text style={{ fontSize: 14, color: '#1A2230', lineHeight: 1.55 }}&gt;&#10;                        &lt;span style={{ color: '#D9534F', fontWeight: 'bold' }}&gt;边界：&lt;/span&gt;单臂、开环、演示与部署时物体摆放不能差太多。&#10;                    &lt;/Text&gt;&#10;                &lt;/Box&gt;&#10;            &lt;/Box&gt;&#10;        &lt;/Box&gt;&#10;&#10;        &lt;Box style={{ width: 1280, height: 118, padding: '0 96px 18px 96px', flexDirection: 'row', alignItems: 'flex-end', justifyContent: 'space-between' }}&gt;&#10;            &lt;Text style={{ fontSize: 14, color: '#8B97A8' }}&gt;演示即上下文 · 组会分享&lt;/Text&gt;&#10;            &lt;Text style={{ fontSize: 16, fontWeight: 'bold', color: '#1E4FA8' }}&gt;04 / 15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914400" y="381000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一条演示进来，机器人靠什么直接上手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14400" y="80962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整条链路只有四步，而且每一步都能单独出问题</a:t>
            </a:r>
            <a:endParaRPr/>
          </a:p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1181100"/>
            <a:ext cx="7124700" cy="4438650"/>
          </a:xfrm>
          <a:prstGeom prst="rect">
            <a:avLst/>
          </a:prstGeom>
          <a:ln/>
        </p:spPr>
      </p:pic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324850" y="1181100"/>
            <a:ext cx="2952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为什么值得研究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8324850" y="1504950"/>
            <a:ext cx="4191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324850" y="1666875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新任务不用训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324850" y="1905000"/>
            <a:ext cx="2952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加一条演示就是加一行数据，不更新任何参数。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24850" y="2571750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失败能定位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24850" y="2809875"/>
            <a:ext cx="2952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找错了、对不齐、还是执行不了，三个环节能分开查。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324850" y="3476625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库可以一直攒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324850" y="3714750"/>
            <a:ext cx="2952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演示越多，越可能撞上差不多能用的那一条。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8353425" y="4943475"/>
            <a:ext cx="2952750" cy="6953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8324850" y="4943475"/>
            <a:ext cx="2981325" cy="695325"/>
          </a:xfrm>
          <a:custGeom>
            <a:pathLst>
              <a:path w="313" h="73">
                <a:moveTo>
                  <a:pt x="0" y="0"/>
                </a:moveTo>
                <a:lnTo>
                  <a:pt x="3" y="0"/>
                </a:lnTo>
                <a:lnTo>
                  <a:pt x="3" y="73"/>
                </a:lnTo>
                <a:lnTo>
                  <a:pt x="0" y="73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467725" y="5038725"/>
            <a:ext cx="26955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D9534F"/>
                </a:solidFill>
                <a:latin typeface="Microsoft YaHei"/>
                <a:ea typeface="Microsoft YaHei"/>
              </a:rPr>
              <a:t>边界：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单臂、开环、演示与部署时物体摆放不能差太多。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914400" y="6429375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演示即上下文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组会分享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0810875" y="64008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35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height: 710, flexDirection: 'row' }}&gt;&#10;            &lt;Box style={{ width: 470, height: 710, background: '#0E3F8C', padding: '96px 48px', flexDirection: 'column', justifyContent: 'space-between' }}&gt;&#10;                &lt;Box&gt;&#10;                    &lt;Text style={{ fontSize: 16, color: '#9DB6DC', letterSpacing: 3 }}&gt;第二部分&lt;/Text&gt;&#10;                    &lt;Text style={{ fontSize: 190, fontWeight: 'bold', color: '#FFFFFF', lineHeight: 1.0, marginTop: 18 }}&gt;02&lt;/Text&gt;&#10;                    &lt;Box style={{ width: 64, height: 4, background: '#FFC107', marginTop: 26 }} /&gt;&#10;                &lt;/Box&gt;&#10;                &lt;Box style={{ flexDirection: 'column' }}&gt;&#10;                    &lt;Text style={{ fontSize: 15, color: '#9DB6DC', lineHeight: 1.8 }}&gt;&#10;                    这条线走了五年，真正变天只有一次。&#10;                    &lt;/Text&gt;&#10;                    &lt;Text style={{ fontSize: 15, fontWeight: 'bold', color: '#FFC107', marginTop: 12, letterSpacing: 1 }}&gt;05 / 15&lt;/Text&gt;&#10;                &lt;/Box&gt;&#10;            &lt;/Box&gt;&#10;&#10;            &lt;Box style={{ flex: 1, padding: '86px 96px 56px 72px', flexDirection: 'column', justifyContent: 'space-between' }}&gt;&#10;                &lt;Box style={{ flexDirection: 'column' }}&gt;&#10;                    &lt;Text style={{ fontSize: 40, fontWeight: 'bold', color: '#0E3F8C', lineHeight: 1.3 }}&gt;&#10;                        前人走到哪一步&#10;                    &lt;/Text&gt;&#10;                    &lt;Text style={{ fontSize: 19, color: '#4A5568', lineHeight: 1.8, marginTop: 16 }}&gt;&#10;                        同样的&quot;检索&quot;，用法变了三次；每一次变化都重新定义了&quot;这条路线要花多少代价&quot;。&#10;                    &lt;/Text&gt;&#10;&#10;                    &lt;Box style={{ flexDirection: 'column', gap: 30, marginTop: 46 }}&gt;&#10;                        &lt;Box style={{ flexDirection: 'row', alignItems: 'flex-start' }}&gt;&#10;                            &lt;Box style={{ width: 8, height: 8, background: '#1E4FA8', marginTop: 12, marginRight: 16 }} /&gt;&#10;                            &lt;Text style={{ flex: 1, fontSize: 20, color: '#1A2230', lineHeight: 1.65 }}&gt;&#10;                                三代做法的分界线，不在&quot;检索什么&quot;，而在&quot;检索到之后怎么用&quot;。&#10;                            &lt;/Text&gt;&#10;                        &lt;/Box&gt;&#10;                        &lt;Box style={{ flexDirection: 'row', alignItems: 'flex-start' }}&gt;&#10;                            &lt;Box style={{ width: 8, height: 8, background: '#1E4FA8', marginTop: 12, marginRight: 16 }} /&gt;&#10;                            &lt;Text style={{ flex: 1, fontSize: 20, color: '#1A2230', lineHeight: 1.65 }}&gt;&#10;                                &quot;上下文&quot;这个词，领域里至少指三件量纲不同的事——这是后面所有讨论的前提。&#10;                            &lt;/Text&gt;&#10;                        &lt;/Box&gt;&#10;                        &lt;Box style={{ flexDirection: 'row', alignItems: 'flex-start' }}&gt;&#10;                            &lt;Box style={{ width: 8, height: 8, background: '#1E4FA8', marginTop: 12, marginRight: 16 }} /&gt;&#10;                            &lt;Text style={{ flex: 1, fontSize: 20, color: '#1A2230', lineHeight: 1.65 }}&gt;&#10;                                把八项代表工作摊在一张表上，能直接看出哪一格是空的。&#10;                            &lt;/Text&gt;&#10;                        &lt;/Box&gt;&#10;                    &lt;/Box&gt;&#10;                &lt;/Box&gt;&#10;&#10;                &lt;Box style={{ background: '#F0F5FC', padding: '18px 22px', borderLeft: '4px solid #1E4FA8' }}&gt;&#10;                    &lt;Text style={{ fontSize: 17, color: '#0E3F8C', lineHeight: 1.6 }}&gt;&#10;                        先记住一个转折：2021 年的做法是&quot;检索一个动作&quot;，2025 年之后是&quot;检索一段演示当上下文&quot;——&#10;                        同一个动作，含义完全不同。&#10;                    &lt;/Text&gt;&#10;                &lt;/Box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0" y="95250"/>
            <a:ext cx="4476750" cy="6762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57200" y="1009650"/>
            <a:ext cx="3562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9DB6DC"/>
                </a:solidFill>
                <a:latin typeface="Microsoft YaHei"/>
                <a:ea typeface="Microsoft YaHei"/>
              </a:rPr>
              <a:t>第二部分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57200" y="1371600"/>
            <a:ext cx="356235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457200" y="37909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57200" y="5343525"/>
            <a:ext cx="356235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DB6DC"/>
                </a:solidFill>
                <a:latin typeface="Microsoft YaHei"/>
                <a:ea typeface="Microsoft YaHei"/>
              </a:rPr>
              <a:t>这条线走了五年，真正变天只有一次。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57200" y="577215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FFC107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162550" y="914400"/>
            <a:ext cx="611505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0E3F8C"/>
                </a:solidFill>
                <a:latin typeface="Microsoft YaHei"/>
                <a:ea typeface="Microsoft YaHei"/>
              </a:rPr>
              <a:t>前人走到哪一步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162550" y="1666875"/>
            <a:ext cx="61150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同样的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检索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，用法变了三次；每一次变化都重新定义了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这条路线要花多少代价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162550" y="300990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391150" y="2895600"/>
            <a:ext cx="5886450" cy="381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三代做法的分界线，不在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检索什么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，而在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检索到之后怎么用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5162550" y="36766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391150" y="3562350"/>
            <a:ext cx="58864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上下文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这个词，领域里至少指三件量纲不同的事——这是后面所有讨论的前提。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5162550" y="472440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5391150" y="4610100"/>
            <a:ext cx="5886450" cy="381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把八项代表工作摊在一张表上，能直接看出哪一格是空的。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5200650" y="5353050"/>
            <a:ext cx="6115050" cy="9715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5162550" y="5353050"/>
            <a:ext cx="6153150" cy="971550"/>
          </a:xfrm>
          <a:custGeom>
            <a:pathLst>
              <a:path w="646" h="102">
                <a:moveTo>
                  <a:pt x="0" y="0"/>
                </a:moveTo>
                <a:lnTo>
                  <a:pt x="4" y="0"/>
                </a:lnTo>
                <a:lnTo>
                  <a:pt x="4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410200" y="5524500"/>
            <a:ext cx="56578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先记住一个转折：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2021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年的做法是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检索一个动作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2025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年之后是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检索一段演示当上下文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"——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同一个动作，含义完全不同。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55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padding: '28px 96px 0 96px', flexDirection: 'column' }}&gt;&#10;            &lt;Text style={{ fontSize: 34, fontWeight: 'bold', color: '#0E3F8C' }}&gt;三代人做的事，分界线在&quot;检索完怎么用&quot;&lt;/Text&gt;&#10;            &lt;Text style={{ fontSize: 17, color: '#8B97A8', marginTop: 4 }}&gt;&#10;                同样是检索，第一代直接出动作，第二代要重训，第三代才真正做到不训练&#10;            &lt;/Text&gt;&#10;        &lt;/Box&gt;&#10;&#10;        &lt;Box style={{ width: 1280, height: 462, padding: '16px 96px 0 96px', flexDirection: 'column', gap: 12 }}&gt;&#10;            &lt;Box style={{ height: 138, background: '#F7F9FC', borderLeft: '4px solid #8B97A8', flexDirection: 'row', padding: '16px 22px 16px 20px' }}&gt;&#10;                &lt;Box style={{ width: 206, flexDirection: 'column' }}&gt;&#10;                    &lt;Text style={{ fontSize: 23, fontWeight: 'bold', color: '#4A5568' }}&gt;2021&lt;/Text&gt;&#10;                    &lt;Text style={{ fontSize: 14, color: '#8B97A8', marginTop: 4 }}&gt;第一代&lt;/Text&gt;&#10;                &lt;/Box&gt;&#10;                &lt;Box style={{ flex: 1, flexDirection: 'column' }}&gt;&#10;                    &lt;Text style={{ fontSize: 21, fontWeight: 'bold', color: '#1A2230' }}&gt;检索一个动作，直接输出&lt;/Text&gt;&#10;                    &lt;Text style={{ fontSize: 16, color: '#4A5568', lineHeight: 1.6, marginTop: 6 }}&gt;&#10;                        从库里找最像的几帧，把它们对应的动作加权平均，就是下一步要执行的指令。&#10;                        代表工作是 VINN。&#10;                    &lt;/Text&gt;&#10;                &lt;/Box&gt;&#10;                &lt;Box style={{ width: 250, background: '#FFFFFF', border: '1px solid #D6DCE5', padding: '10px 12px' }}&gt;&#10;                    &lt;Text style={{ fontSize: 14, color: '#4A5568', lineHeight: 1.55 }}&gt;&#10;                        &lt;span style={{ color: '#D9534F', fontWeight: 'bold' }}&gt;代价：&lt;/span&gt;&#10;                        免训练，但只有单步、没有时序结构；在精细任务上终局成功率接近 0。&#10;                    &lt;/Text&gt;&#10;                &lt;/Box&gt;&#10;            &lt;/Box&gt;&#10;&#10;            &lt;Box style={{ height: 138, background: '#F7F9FC', borderLeft: '4px solid #3D7BD9', flexDirection: 'row', padding: '16px 22px 16px 20px' }}&gt;&#10;                &lt;Box style={{ width: 206, flexDirection: 'column' }}&gt;&#10;                    &lt;Text style={{ fontSize: 23, fontWeight: 'bold', color: '#3D7BD9' }}&gt;2023–2025&lt;/Text&gt;&#10;                    &lt;Text style={{ fontSize: 14, color: '#8B97A8', marginTop: 4 }}&gt;第二代&lt;/Text&gt;&#10;                &lt;/Box&gt;&#10;                &lt;Box style={{ flex: 1, flexDirection: 'column' }}&gt;&#10;                    &lt;Text style={{ fontSize: 21, fontWeight: 'bold', color: '#1A2230' }}&gt;检索到的数据，要一起训练&lt;/Text&gt;&#10;                    &lt;Text style={{ fontSize: 16, color: '#4A5568', lineHeight: 1.6, marginTop: 6 }}&gt;&#10;                        把检索出来的片段和目标任务的少量数据混在一起重新训练策略。&#10;                        代表工作是 Behavior Retrieval、STRAP、IWR。&#10;                    &lt;/Text&gt;&#10;                &lt;/Box&gt;&#10;                &lt;Box style={{ width: 250, background: '#FFFFFF', border: '1px solid #D6DCE5', padding: '10px 12px' }}&gt;&#10;                    &lt;Text style={{ fontSize: 14, color: '#4A5568', lineHeight: 1.55 }}&gt;&#10;                        &lt;span style={{ color: '#D9534F', fontWeight: 'bold' }}&gt;代价：&lt;/span&gt;&#10;                        每个新任务仍要付一次训练；有工作部署时要重训约 35 分钟。&#10;                    &lt;/Text&gt;&#10;                &lt;/Box&gt;&#10;            &lt;/Box&gt;&#10;&#10;            &lt;Box style={{ height: 138, background: '#E8EFF8', borderLeft: '4px solid #1E4FA8', flexDirection: 'row', padding: '16px 22px 16px 20px' }}&gt;&#10;                &lt;Box style={{ width: 206, flexDirection: 'column' }}&gt;&#10;                    &lt;Text style={{ fontSize: 23, fontWeight: 'bold', color: '#1E4FA8' }}&gt;2025–2026&lt;/Text&gt;&#10;                    &lt;Text style={{ fontSize: 14, color: '#0E3F8C', marginTop: 4 }}&gt;第三代&lt;/Text&gt;&#10;                &lt;/Box&gt;&#10;                &lt;Box style={{ flex: 1, flexDirection: 'column' }}&gt;&#10;                    &lt;Text style={{ fontSize: 21, fontWeight: 'bold', color: '#0E3F8C' }}&gt;检索结果当上下文，喂给冻结的策略&lt;/Text&gt;&#10;                    &lt;Text style={{ fontSize: 16, color: '#1A2230', lineHeight: 1.6, marginTop: 6 }}&gt;&#10;                        检索到的演示不参与训练，直接作为提示交给一个不动的策略，动作由它现场生成。&#10;                        代表工作是 MT3、ReCAP。&#10;                    &lt;/Text&gt;&#10;                &lt;/Box&gt;&#10;                &lt;Box style={{ width: 250, background: '#FFFFFF', border: '1px solid #1E4FA8', padding: '10px 12px' }}&gt;&#10;                    &lt;Text style={{ fontSize: 14, color: '#1A2230', lineHeight: 1.55 }}&gt;&#10;                        &lt;span style={{ color: '#1E4FA8', fontWeight: 'bold' }}&gt;代价：&lt;/span&gt;&#10;                        真正零训练；但只能吃定长片段，或一条完整演示。&#10;                    &lt;/Text&gt;&#10;                &lt;/Box&gt;&#10;            &lt;/Box&gt;&#10;        &lt;/Box&gt;&#10;&#10;        &lt;Box style={{ width: 1280, height: 84, padding: '0 96px', flexDirection: 'column', justifyContent: 'center' }}&gt;&#10;            &lt;Box style={{ background: '#0E3F8C', padding: '12px 20px', flexDirection: 'row', alignItems: 'center' }}&gt;&#10;                &lt;Text style={{ fontSize: 18, color: '#FFFFFF', fontWeight: 'bold' }}&gt;所以&lt;/Text&gt;&#10;                &lt;Text style={{ fontSize: 18, color: '#FFFFFF', marginLeft: 16 }}&gt;&#10;                    判断一项工作属于哪一代，不要看它检索什么，要看它检索完还训不训练。&#10;                &lt;/Text&gt;&#10;            &lt;/Box&gt;&#10;        &lt;/Box&gt;&#10;&#10;        &lt;Box style={{ width: 1280, height: 66, padding: '0 96px 18px 96px', flexDirection: 'row', alignItems: 'flex-end', justifyContent: 'space-between' }}&gt;&#10;            &lt;Text style={{ fontSize: 14, color: '#8B97A8' }}&gt;演示即上下文 · 组会分享&lt;/Text&gt;&#10;            &lt;Text style={{ fontSize: 16, fontWeight: 'bold', color: '#1E4FA8' }}&gt;06 / 15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14400" y="361950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三代人做的事，分界线在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检索完怎么用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914400" y="79057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同样是检索，第一代直接出动作，第二代要重训，第三代才真正做到不训练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952500" y="1143000"/>
            <a:ext cx="10363200" cy="1314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914400" y="1143000"/>
            <a:ext cx="10401300" cy="1314450"/>
          </a:xfrm>
          <a:custGeom>
            <a:pathLst>
              <a:path w="1092" h="138">
                <a:moveTo>
                  <a:pt x="0" y="0"/>
                </a:moveTo>
                <a:lnTo>
                  <a:pt x="4" y="0"/>
                </a:lnTo>
                <a:lnTo>
                  <a:pt x="4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43000" y="1295400"/>
            <a:ext cx="19621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4A5568"/>
                </a:solidFill>
                <a:latin typeface="Microsoft YaHei"/>
                <a:ea typeface="Microsoft YaHei"/>
              </a:rPr>
              <a:t>2021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143000" y="1600200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第一代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105150" y="1295400"/>
            <a:ext cx="5581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检索一个动作，直接输出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105150" y="1600200"/>
            <a:ext cx="5581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从库里找最像的几帧，把它们对应的动作加权平均，就是下一步要执行的指令。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代表工作是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VINN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8686800" y="1295400"/>
            <a:ext cx="2381250" cy="100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801100" y="1390650"/>
            <a:ext cx="21526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D9534F"/>
                </a:solidFill>
                <a:latin typeface="Microsoft YaHei"/>
                <a:ea typeface="Microsoft YaHei"/>
              </a:rPr>
              <a:t>代价：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免训练，但只有单步、没有时序结构；在精细任务上终局成功率接近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952500" y="2571750"/>
            <a:ext cx="10363200" cy="1314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914400" y="2571750"/>
            <a:ext cx="10401300" cy="1314450"/>
          </a:xfrm>
          <a:custGeom>
            <a:pathLst>
              <a:path w="1092" h="138">
                <a:moveTo>
                  <a:pt x="0" y="0"/>
                </a:moveTo>
                <a:lnTo>
                  <a:pt x="4" y="0"/>
                </a:lnTo>
                <a:lnTo>
                  <a:pt x="4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43000" y="2724150"/>
            <a:ext cx="19621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3D7BD9"/>
                </a:solidFill>
                <a:latin typeface="Microsoft YaHei"/>
                <a:ea typeface="Microsoft YaHei"/>
              </a:rPr>
              <a:t>2023–2025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43000" y="3028950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第二代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105150" y="2724150"/>
            <a:ext cx="5581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检索到的数据，要一起训练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105150" y="3028950"/>
            <a:ext cx="5581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把检索出来的片段和目标任务的少量数据混在一起重新训练策略。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代表工作是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Behavior Retrieval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STRAP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IWR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8686800" y="2724150"/>
            <a:ext cx="2381250" cy="100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801100" y="2819400"/>
            <a:ext cx="2152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D9534F"/>
                </a:solidFill>
                <a:latin typeface="Microsoft YaHei"/>
                <a:ea typeface="Microsoft YaHei"/>
              </a:rPr>
              <a:t>代价：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每个新任务仍要付一次训练；有工作部署时要重训约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35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分钟。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952500" y="4000500"/>
            <a:ext cx="10363200" cy="1314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914400" y="4000500"/>
            <a:ext cx="10401300" cy="1314450"/>
          </a:xfrm>
          <a:custGeom>
            <a:pathLst>
              <a:path w="1092" h="138">
                <a:moveTo>
                  <a:pt x="0" y="0"/>
                </a:moveTo>
                <a:lnTo>
                  <a:pt x="4" y="0"/>
                </a:lnTo>
                <a:lnTo>
                  <a:pt x="4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143000" y="4152900"/>
            <a:ext cx="19621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E4FA8"/>
                </a:solidFill>
                <a:latin typeface="Microsoft YaHei"/>
                <a:ea typeface="Microsoft YaHei"/>
              </a:rPr>
              <a:t>2025–2026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43000" y="4457700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E3F8C"/>
                </a:solidFill>
                <a:latin typeface="Microsoft YaHei"/>
                <a:ea typeface="Microsoft YaHei"/>
              </a:rPr>
              <a:t>第三代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3105150" y="4152900"/>
            <a:ext cx="5581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检索结果当上下文，喂给冻结的策略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105150" y="4457700"/>
            <a:ext cx="5581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检索到的演示不参与训练，直接作为提示交给一个不动的策略，动作由它现场生成。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代表工作是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MT3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ReCAP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8686800" y="4152900"/>
            <a:ext cx="2381250" cy="100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801100" y="4248150"/>
            <a:ext cx="2152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1E4FA8"/>
                </a:solidFill>
                <a:latin typeface="Microsoft YaHei"/>
                <a:ea typeface="Microsoft YaHei"/>
              </a:rPr>
              <a:t>代价：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真正零训练；但只能吃定长片段，或一条完整演示。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914400" y="5572125"/>
            <a:ext cx="103632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04900" y="56864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所以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600200" y="5686425"/>
            <a:ext cx="565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判断一项工作属于哪一代，不要看它检索什么，要看它检索完还训不训练。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14400" y="6486525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演示即上下文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组会分享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810875" y="645795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89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padding: '24px 96px 0 96px', flexDirection: 'column' }}&gt;&#10;            &lt;Text style={{ fontSize: 34, fontWeight: 'bold', color: '#0E3F8C' }}&gt;&quot;上下文&quot;这个词，被用来指三件不同的事&lt;/Text&gt;&#10;            &lt;Text style={{ fontSize: 17, color: '#8B97A8', marginTop: 4 }}&gt;&#10;                三句话在各自的量纲上都对，放在一起就没法比&#10;            &lt;/Text&gt;&#10;            &lt;Box style={{ width: 1088, height: 1, background: '#D6DCE5', marginTop: 14 }} /&gt;&#10;        &lt;/Box&gt;&#10;&#10;        &lt;Box style={{ width: 1280, height: 410, padding: '14px 96px 0 96px', flexDirection: 'row', gap: 24 }}&gt;&#10;            &lt;Box style={{ width: 346, background: '#F7F9FC', border: '1px solid #D6DCE5', padding: '20px 22px', flexDirection: 'column', justifyContent: 'space-between' }}&gt;&#10;                &lt;Box style={{ flexDirection: 'column' }}&gt;&#10;                    &lt;Box style={{ alignSelf: 'flex-start', background: '#E8EFF8', padding: '4px 10px', borderRadius: 12 }}&gt;&#10;                        &lt;Text style={{ fontSize: 13, color: '#0E3F8C' }}&gt;单位：时间步&lt;/Text&gt;&#10;                    &lt;/Box&gt;&#10;                    &lt;Text style={{ fontSize: 22, fontWeight: 'bold', color: '#1A2230', marginTop: 14, lineHeight: 1.4 }}&gt;&#10;                        训练时，一条序列看多长&#10;                    &lt;/Text&gt;&#10;                    &lt;Text style={{ fontSize: 16, color: '#4A5568', lineHeight: 1.65, marginTop: 10 }}&gt;&#10;                        指预训练时把多长的历史压进一条训练样本。有工作把这个长度拉到 8000 步，&#10;                        30 赫兹下相当于四分半钟的连续操作。&#10;                    &lt;/Text&gt;&#10;                &lt;/Box&gt;&#10;                &lt;Box&gt;&#10;                    &lt;Text style={{ fontSize: 40, fontWeight: 'bold', color: '#1E4FA8', lineHeight: 1.1 }}&gt;8000 步&lt;/Text&gt;&#10;                    &lt;Text style={{ fontSize: 14, color: '#8B97A8', marginTop: 6, lineHeight: 1.5 }}&gt;&#10;                        但下游微调只用到 1000 步——训练给的能力和部署用的长度是两回事。&#10;                    &lt;/Text&gt;&#10;                &lt;/Box&gt;&#10;            &lt;/Box&gt;&#10;&#10;            &lt;Box style={{ width: 346, background: '#F7F9FC', border: '1px solid #D6DCE5', padding: '20px 22px', flexDirection: 'column', justifyContent: 'space-between' }}&gt;&#10;                &lt;Box style={{ flexDirection: 'column' }}&gt;&#10;                    &lt;Box style={{ alignSelf: 'flex-start', background: '#E8EFF8', padding: '4px 10px', borderRadius: 12 }}&gt;&#10;                        &lt;Text style={{ fontSize: 13, color: '#0E3F8C' }}&gt;单位：条&lt;/Text&gt;&#10;                    &lt;/Box&gt;&#10;                    &lt;Text style={{ fontSize: 22, fontWeight: 'bold', color: '#1A2230', marginTop: 14, lineHeight: 1.4 }}&gt;&#10;                        提示里，放几条演示&#10;                    &lt;/Text&gt;&#10;                    &lt;Text style={{ fontSize: 16, color: '#4A5568', lineHeight: 1.65, marginTop: 10 }}&gt;&#10;                        指推理时直接摆在模型面前、让它照着的演示数量。主流做法固定为一条，&#10;                        厂商对外展示时也只放一段第一视角视频。&#10;                    &lt;/Text&gt;&#10;                &lt;/Box&gt;&#10;                &lt;Box&gt;&#10;                    &lt;Text style={{ fontSize: 40, fontWeight: 'bold', color: '#1E4FA8', lineHeight: 1.1 }}&gt;通常 1 条&lt;/Text&gt;&#10;                    &lt;Text style={{ fontSize: 14, color: '#8B97A8', marginTop: 6, lineHeight: 1.5 }}&gt;&#10;                        几乎没有人试过把这一条换成三条、五条，看会发生什么。&#10;                    &lt;/Text&gt;&#10;                &lt;/Box&gt;&#10;            &lt;/Box&gt;&#10;&#10;            &lt;Box style={{ width: 346, background: '#F7F9FC', border: '1px solid #D6DCE5', padding: '20px 22px', flexDirection: 'column', justifyContent: 'space-between' }}&gt;&#10;                &lt;Box style={{ flexDirection: 'column' }}&gt;&#10;                    &lt;Box style={{ alignSelf: 'flex-start', background: '#E8EFF8', padding: '4px 10px', borderRadius: 12 }}&gt;&#10;                        &lt;Text style={{ fontSize: 13, color: '#0E3F8C' }}&gt;单位：条 / 任务&lt;/Text&gt;&#10;                    &lt;/Box&gt;&#10;                    &lt;Text style={{ fontSize: 22, fontWeight: 'bold', color: '#1A2230', marginTop: 14, lineHeight: 1.4 }}&gt;&#10;                        从多大的库里，取几条&#10;                    &lt;/Text&gt;&#10;                    &lt;Text style={{ fontSize: 16, color: '#4A5568', lineHeight: 1.65, marginTop: 10 }}&gt;&#10;                        指演示库的规模，以及每次实际取回多少条。有工作把取回条数从 100 扫到 4000，&#10;                        发现最优点随任务而变。&#10;                    &lt;/Text&gt;&#10;                &lt;/Box&gt;&#10;                &lt;Box&gt;&#10;                    &lt;Text style={{ fontSize: 40, fontWeight: 'bold', color: '#1E4FA8', lineHeight: 1.1 }}&gt;100 → 4000&lt;/Text&gt;&#10;                    &lt;Text style={{ fontSize: 14, color: '#8B97A8', marginTop: 6, lineHeight: 1.5 }}&gt;&#10;                        这是唯一被系统扫过的一根轴，但库的大小和取几条是分开动的。&#10;                    &lt;/Text&gt;&#10;                &lt;/Box&gt;&#10;            &lt;/Box&gt;&#10;        &lt;/Box&gt;&#10;&#10;        &lt;Box style={{ width: 1280, height: 116, padding: '16px 96px 0 96px', flexDirection: 'column', justifyContent: 'center' }}&gt;&#10;            &lt;Box style={{ background: '#F0F5FC', borderLeft: '4px solid #1E4FA8', padding: '12px 20px' }}&gt;&#10;                &lt;Text style={{ fontSize: 18, color: '#0E3F8C', lineHeight: 1.6 }}&gt;&#10;                    所以&quot;这个方向还没人做全&quot;这句话，必须先说清是哪一根轴。&#10;                    把三根轴混着说，谁都可以说&quot;我做了上下文&quot;，也谁都无法被反驳。&#10;                &lt;/Text&gt;&#10;            &lt;/Box&gt;&#10;        &lt;/Box&gt;&#10;&#10;        &lt;Box style={{ width: 1280, height: 60, padding: '0 96px 18px 96px', flexDirection: 'row', alignItems: 'flex-end', justifyContent: 'space-between' }}&gt;&#10;            &lt;Text style={{ fontSize: 14, color: '#8B97A8' }}&gt;演示即上下文 · 组会分享&lt;/Text&gt;&#10;            &lt;Text style={{ fontSize: 16, fontWeight: 'bold', color: '#1E4FA8' }}&gt;07 / 15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914400" y="323850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上下文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这个词，被用来指三件不同的事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914400" y="75247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三句话在各自的量纲上都对，放在一起就没法比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914400" y="1085850"/>
            <a:ext cx="103632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914400" y="1228725"/>
            <a:ext cx="3295650" cy="3771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1123950" y="1419225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219200" y="14573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E3F8C"/>
                </a:solidFill>
                <a:latin typeface="Microsoft YaHei"/>
                <a:ea typeface="Microsoft YaHei"/>
              </a:rPr>
              <a:t>单位：时间步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123950" y="1781175"/>
            <a:ext cx="28765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训练时，一条序列看多长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23950" y="2228850"/>
            <a:ext cx="287655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指预训练时把多长的历史压进一条训练样本。有工作把这个长度拉到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8000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步，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赫兹下相当于四分半钟的连续操作。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23950" y="3762375"/>
            <a:ext cx="287655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8000 </a:t>
            </a:r>
            <a:r>
              <a:rPr lang="zh-CN" sz="3000" b="1">
                <a:solidFill>
                  <a:srgbClr val="1E4FA8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23950" y="4324350"/>
            <a:ext cx="28765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但下游微调只用到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1000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步——训练给的能力和部署用的长度是两回事。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4438650" y="1228725"/>
            <a:ext cx="3295650" cy="3771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4648200" y="1419225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743450" y="14573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E3F8C"/>
                </a:solidFill>
                <a:latin typeface="Microsoft YaHei"/>
                <a:ea typeface="Microsoft YaHei"/>
              </a:rPr>
              <a:t>单位：条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648200" y="1781175"/>
            <a:ext cx="28765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提示里，放几条演示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648200" y="2228850"/>
            <a:ext cx="287655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指推理时直接摆在模型面前、让它照着的演示数量。主流做法固定为一条，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厂商对外展示时也只放一段第一视角视频。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648200" y="3762375"/>
            <a:ext cx="287655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3000" b="1">
                <a:solidFill>
                  <a:srgbClr val="1E4FA8"/>
                </a:solidFill>
                <a:latin typeface="Microsoft YaHei"/>
                <a:ea typeface="Microsoft YaHei"/>
              </a:rPr>
              <a:t>通常</a:t>
            </a: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3000" b="1">
                <a:solidFill>
                  <a:srgbClr val="1E4FA8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648200" y="4324350"/>
            <a:ext cx="28765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几乎没有人试过把这一条换成三条、五条，看会发生什么。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7962900" y="1228725"/>
            <a:ext cx="3295650" cy="3771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8172450" y="1419225"/>
            <a:ext cx="1038225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267700" y="1457325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E3F8C"/>
                </a:solidFill>
                <a:latin typeface="Microsoft YaHei"/>
                <a:ea typeface="Microsoft YaHei"/>
              </a:rPr>
              <a:t>单位：条</a:t>
            </a:r>
            <a:r>
              <a:rPr lang="en-US" sz="975">
                <a:solidFill>
                  <a:srgbClr val="0E3F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0E3F8C"/>
                </a:solidFill>
                <a:latin typeface="Microsoft YaHei"/>
                <a:ea typeface="Microsoft YaHei"/>
              </a:rPr>
              <a:t>任务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172450" y="1781175"/>
            <a:ext cx="287655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从多大的库里，取几条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172450" y="2228850"/>
            <a:ext cx="287655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指演示库的规模，以及每次实际取回多少条。有工作把取回条数从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扫到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4000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发现最优点随任务而变。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172450" y="3762375"/>
            <a:ext cx="287655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100 → 4000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172450" y="4324350"/>
            <a:ext cx="28765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这是唯一被系统扫过的一根轴，但库的大小和取几条是分开动的。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952500" y="5353050"/>
            <a:ext cx="10363200" cy="56197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914400" y="5353050"/>
            <a:ext cx="10401300" cy="561975"/>
          </a:xfrm>
          <a:custGeom>
            <a:pathLst>
              <a:path w="1092" h="59">
                <a:moveTo>
                  <a:pt x="0" y="0"/>
                </a:moveTo>
                <a:lnTo>
                  <a:pt x="4" y="0"/>
                </a:lnTo>
                <a:lnTo>
                  <a:pt x="4" y="59"/>
                </a:lnTo>
                <a:lnTo>
                  <a:pt x="0" y="59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43000" y="5467350"/>
            <a:ext cx="9944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所以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这个方向还没人做全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这句话，必须先说清是哪一根轴。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把三根轴混着说，谁都可以说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我做了上下文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，也谁都无法被反驳。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914400" y="6343650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演示即上下文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组会分享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0810875" y="6315075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21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height: 512, flexDirection: 'row', padding: '26px 96px 0 96px' }}&gt;&#10;            &lt;Box style={{ width: 300, height: 486, background: '#F7F9FC', padding: '24px 22px', flexDirection: 'column', justifyContent: 'space-between' }}&gt;&#10;                &lt;Box style={{ flexDirection: 'column' }}&gt;&#10;                    &lt;Text style={{ fontSize: 30, fontWeight: 'bold', color: '#0E3F8C', lineHeight: 1.35 }}&gt;&#10;                        谁调过&#10;                        &lt;br /&gt;&#10;                        哪一根轴&#10;                    &lt;/Text&gt;&#10;                    &lt;Box style={{ width: 44, height: 3, background: '#1E4FA8', marginTop: 14 }} /&gt;&#10;                    &lt;Text style={{ fontSize: 16, color: '#4A5568', lineHeight: 1.65, marginTop: 16 }}&gt;&#10;                        八项代表工作摊开看。前四列是自变量，最后一列是它要不要为每个新任务付训练成本。&#10;                    &lt;/Text&gt;&#10;                &lt;/Box&gt;&#10;&#10;                &lt;Box style={{ background: '#FFFFFF', borderLeft: '3px solid #FFC107', padding: '12px 14px' }}&gt;&#10;                    &lt;Text style={{ fontSize: 14, color: '#4A5568', lineHeight: 1.7 }}&gt;&#10;                        读法提示：RoboTTT 那一格的 128 – 8000 是训练时的序列长度，不是检索条数，别和上面几行混着读。&#10;                    &lt;/Text&gt;&#10;                &lt;/Box&gt;&#10;&#10;                &lt;Box style={{ flexDirection: 'column', gap: 8 }}&gt;&#10;                    &lt;Box style={{ flexDirection: 'row', alignItems: 'center' }}&gt;&#10;                        &lt;Text style={{ width: 26, fontSize: 18, fontWeight: 'bold', color: '#1E4FA8' }}&gt;●&lt;/Text&gt;&#10;                        &lt;Text style={{ fontSize: 15, color: '#4A5568' }}&gt;系统扫过这根轴&lt;/Text&gt;&#10;                    &lt;/Box&gt;&#10;                    &lt;Box style={{ flexDirection: 'row', alignItems: 'center' }}&gt;&#10;                        &lt;Text style={{ width: 26, fontSize: 18, color: '#8B97A8' }}&gt;—&lt;/Text&gt;&#10;                        &lt;Text style={{ fontSize: 15, color: '#4A5568' }}&gt;固定不动或没有这根轴&lt;/Text&gt;&#10;                    &lt;/Box&gt;&#10;                &lt;/Box&gt;&#10;            &lt;/Box&gt;&#10;&#10;            &lt;Box style={{ flex: 1, paddingLeft: 28, height: 486, flexDirection: 'column' }}&gt;&#10;                &lt;Box style={{ width: 760, height: 46, flexDirection: 'row', background: '#0E3F8C' }}&gt;&#10;                    &lt;Box style={{ width: 244, paddingLeft: 16, justifyContent: 'center' }}&gt;&#10;                        &lt;Text style={{ fontSize: 15, fontWeight: 'bold', color: '#FFFFFF' }}&gt;代表工作&lt;/Text&gt;&#10;                    &lt;/Box&gt;&#10;                    &lt;Box style={{ width: 146, alignItems: 'center', justifyContent: 'center' }}&gt;&#10;                        &lt;Text style={{ fontSize: 15, fontWeight: 'bold', color: '#FFFFFF' }}&gt;库多大&lt;/Text&gt;&#10;                    &lt;/Box&gt;&#10;                    &lt;Box style={{ width: 126, alignItems: 'center', justifyContent: 'center' }}&gt;&#10;                        &lt;Text style={{ fontSize: 15, fontWeight: 'bold', color: '#FFFFFF' }}&gt;取几条&lt;/Text&gt;&#10;                    &lt;/Box&gt;&#10;                    &lt;Box style={{ width: 136, alignItems: 'center', justifyContent: 'center' }}&gt;&#10;                        &lt;Text style={{ fontSize: 15, fontWeight: 'bold', color: '#FFFFFF' }}&gt;每条多长&lt;/Text&gt;&#10;                    &lt;/Box&gt;&#10;                    &lt;Box style={{ width: 108, alignItems: 'center', justifyContent: 'center' }}&gt;&#10;                        &lt;Text style={{ fontSize: 15, fontWeight: 'bold', color: '#FFFFFF' }}&gt;免训练&lt;/Text&gt;&#10;                    &lt;/Box&gt;&#10;                &lt;/Box&gt;&#10;&#10;                &lt;Box style={{ width: 760, height: 55, flexDirection: 'row', borderBottom: '1px solid #E5E7EB' }}&gt;&#10;                    &lt;Box style={{ width: 244, paddingLeft: 16, justifyContent: 'center' }}&gt;&#10;                        &lt;Text style={{ fontSize: 15, fontWeight: 'bold', color: '#1A2230' }}&gt;VINN · 2021&lt;/Text&gt;&#10;                    &lt;/Box&gt;&#10;                    &lt;Box style={{ width: 146, alignItems: 'center', justifyContent: 'center' }}&gt;&#10;                        &lt;Text style={{ fontSize: 15, color: '#1A2230' }}&gt;● 930/750/71&lt;/Text&gt;&#10;                    &lt;/Box&gt;&#10;                    &lt;Box style={{ width: 126, alignItems: 'center', justifyContent: 'center' }}&gt;&#10;                        &lt;Text style={{ fontSize: 15, color: '#1A2230' }}&gt;● 约 10&lt;/Text&gt;&#10;                    &lt;/Box&gt;&#10;                    &lt;Box style={{ width: 136, alignItems: 'center', justifyContent: 'center' }}&gt;&#10;                        &lt;Text style={{ fontSize: 15, color: '#8B97A8' }}&gt;—&lt;/Text&gt;&#10;                    &lt;/Box&gt;&#10;                    &lt;Box style={{ width: 108, alignItems: 'center', justifyContent: 'center' }}&gt;&#10;                        &lt;Text style={{ fontSize: 15, fontWeight: 'bold', color: '#1E4FA8' }}&gt;是&lt;/Text&gt;&#10;                    &lt;/Box&gt;&#10;                &lt;/Box&gt;&#10;&#10;                &lt;Box style={{ width: 760, height: 55, flexDirection: 'row', background: '#F7F9FC', borderBottom: '1px solid #E5E7EB' }}&gt;&#10;                    &lt;Box style={{ width: 244, paddingLeft: 16, justifyContent: 'center' }}&gt;&#10;                        &lt;Text style={{ fontSize: 15, fontWeight: 'bold', color: '#1A2230' }}&gt;Behavior Retrieval · 2023&lt;/Text&gt;&#10;                    &lt;/Box&gt;&#10;                    &lt;Box style={{ width: 146, alignItems: 'center', justifyContent: 'center' }}&gt;&#10;                        &lt;Text style={{ fontSize: 15, color: '#8B97A8' }}&gt;—&lt;/Text&gt;&#10;                    &lt;/Box&gt;&#10;                    &lt;Box style={{ width: 126, alignItems: 'center', justifyContent: 'center' }}&gt;&#10;                        &lt;Text style={{ fontSize: 15, color: '#8B97A8' }}&gt;—&lt;/Text&gt;&#10;                    &lt;/Box&gt;&#10;                    &lt;Box style={{ width: 136, alignItems: 'center', justifyContent: 'center' }}&gt;&#10;                        &lt;Text style={{ fontSize: 15, color: '#8B97A8' }}&gt;—&lt;/Text&gt;&#10;                    &lt;/Box&gt;&#10;                    &lt;Box style={{ width: 108, alignItems: 'center', justifyContent: 'center' }}&gt;&#10;                        &lt;Text style={{ fontSize: 15, color: '#4A5568' }}&gt;否&lt;/Text&gt;&#10;                    &lt;/Box&gt;&#10;                &lt;/Box&gt;&#10;&#10;                &lt;Box style={{ width: 760, height: 55, flexDirection: 'row', borderBottom: '1px solid #E5E7EB' }}&gt;&#10;                    &lt;Box style={{ width: 244, paddingLeft: 16, justifyContent: 'center' }}&gt;&#10;                        &lt;Text style={{ fontSize: 15, fontWeight: 'bold', color: '#1A2230' }}&gt;STRAP · 2024&lt;/Text&gt;&#10;                    &lt;/Box&gt;&#10;                    &lt;Box style={{ width: 146, alignItems: 'center', justifyContent: 'center' }}&gt;&#10;                        &lt;Text style={{ fontSize: 15, color: '#1A2230' }}&gt;● 76k 条轨迹&lt;/Text&gt;&#10;                    &lt;/Box&gt;&#10;                    &lt;Box style={{ width: 126, alignItems: 'center', justifyContent: 'center' }}&gt;&#10;                        &lt;Text style={{ fontSize: 15, color: '#1A2230' }}&gt;● 100–4000&lt;/Text&gt;&#10;                    &lt;/Box&gt;&#10;                    &lt;Box style={{ width: 136, alignItems: 'center', justifyContent: 'center' }}&gt;&#10;                        &lt;Text style={{ fontSize: 15, color: '#8B97A8' }}&gt;—&lt;/Text&gt;&#10;                    &lt;/Box&gt;&#10;                    &lt;Box style={{ width: 108, alignItems: 'center', justifyContent: 'center' }}&gt;&#10;                        &lt;Text style={{ fontSize: 15, color: '#4A5568' }}&gt;否&lt;/Text&gt;&#10;                    &lt;/Box&gt;&#10;                &lt;/Box&gt;&#10;&#10;                &lt;Box style={{ width: 760, height: 55, flexDirection: 'row', background: '#F7F9FC', borderBottom: '1px solid #E5E7EB' }}&gt;&#10;                    &lt;Box style={{ width: 244, paddingLeft: 16, justifyContent: 'center' }}&gt;&#10;                        &lt;Text style={{ fontSize: 15, fontWeight: 'bold', color: '#1A2230' }}&gt;ReMoBot · 2024&lt;/Text&gt;&#10;                    &lt;/Box&gt;&#10;                    &lt;Box style={{ width: 146, alignItems: 'center', justifyContent: 'center' }}&gt;&#10;                        &lt;Text style={{ fontSize: 15, color: '#1A2230' }}&gt;● 1–20&lt;/Text&gt;&#10;                    &lt;/Box&gt;&#10;                    &lt;Box style={{ width: 126, alignItems: 'center', justifyContent: 'center' }}&gt;&#10;                        &lt;Text style={{ fontSize: 15, color: '#1A2230' }}&gt;● 5 / 10&lt;/Text&gt;&#10;                    &lt;/Box&gt;&#10;                    &lt;Box style={{ width: 136, alignItems: 'center', justifyContent: 'center' }}&gt;&#10;                        &lt;Text style={{ fontSize: 15, color: '#1A2230' }}&gt;● 3 / 5&lt;/Text&gt;&#10;                    &lt;/Box&gt;&#10;                    &lt;Box style={{ width: 108, alignItems: 'center', justifyContent: 'center' }}&gt;&#10;                        &lt;Text style={{ fontSize: 15, fontWeight: 'bold', color: '#1E4FA8' }}&gt;是&lt;/Text&gt;&#10;                    &lt;/Box&gt;&#10;                &lt;/Box&gt;&#10;&#10;                &lt;Box style={{ width: 760, height: 55, flexDirection: 'row', borderBottom: '1px solid #E5E7EB' }}&gt;&#10;                    &lt;Box style={{ width: 244, paddingLeft: 16, justifyContent: 'center' }}&gt;&#10;                        &lt;Text style={{ fontSize: 15, fontWeight: 'bold', color: '#1A2230' }}&gt;MT3 · 2025&lt;/Text&gt;&#10;                    &lt;/Box&gt;&#10;                    &lt;Box style={{ width: 146, alignItems: 'center', justifyContent: 'center' }}&gt;&#10;                        &lt;Text style={{ fontSize: 15, color: '#1A2230' }}&gt;● 1–50&lt;/Text&gt;&#10;                    &lt;/Box&gt;&#10;                    &lt;Box style={{ width: 126, alignItems: 'center', justifyContent: 'center' }}&gt;&#10;                        &lt;Text style={{ fontSize: 15, color: '#1A2230' }}&gt;— 恒 1 条&lt;/Text&gt;&#10;                    &lt;/Box&gt;&#10;                    &lt;Box style={{ width: 136, alignItems: 'center', justifyContent: 'center' }}&gt;&#10;                        &lt;Text style={{ fontSize: 15, color: '#1A2230' }}&gt;— 单条完整&lt;/Text&gt;&#10;                    &lt;/Box&gt;&#10;                    &lt;Box style={{ width: 108, alignItems: 'center', justifyContent: 'center' }}&gt;&#10;                        &lt;Text style={{ fontSize: 15, fontWeight: 'bold', color: '#1E4FA8' }}&gt;是&lt;/Text&gt;&#10;                    &lt;/Box&gt;&#10;                &lt;/Box&gt;&#10;&#10;                &lt;Box style={{ width: 760, height: 55, flexDirection: 'row', background: '#F7F9FC', borderBottom: '1px solid #E5E7EB' }}&gt;&#10;                    &lt;Box style={{ width: 244, paddingLeft: 16, justifyContent: 'center' }}&gt;&#10;                        &lt;Text style={{ fontSize: 15, fontWeight: 'bold', color: '#1A2230' }}&gt;SAIL · 2026&lt;/Text&gt;&#10;                    &lt;/Box&gt;&#10;                    &lt;Box style={{ width: 146, alignItems: 'center', justifyContent: 'center' }}&gt;&#10;                        &lt;Text style={{ fontSize: 15, color: '#8B97A8' }}&gt;—&lt;/Text&gt;&#10;                    &lt;/Box&gt;&#10;                    &lt;Box style={{ width: 126, alignItems: 'center', justifyContent: 'center' }}&gt;&#10;                        &lt;Text style={{ fontSize: 15, color: '#1A2230' }}&gt;● 1 / 3&lt;/Text&gt;&#10;                    &lt;/Box&gt;&#10;                    &lt;Box style={{ width: 136, alignItems: 'center', justifyContent: 'center' }}&gt;&#10;                        &lt;Text style={{ fontSize: 15, color: '#8B97A8' }}&gt;—&lt;/Text&gt;&#10;                    &lt;/Box&gt;&#10;                    &lt;Box style={{ width: 108, alignItems: 'center', justifyContent: 'center' }}&gt;&#10;                        &lt;Text style={{ fontSize: 15, fontWeight: 'bold', color: '#1E4FA8' }}&gt;是&lt;/Text&gt;&#10;                    &lt;/Box&gt;&#10;                &lt;/Box&gt;&#10;&#10;                &lt;Box style={{ width: 760, height: 55, flexDirection: 'row', borderBottom: '1px solid #E5E7EB' }}&gt;&#10;                    &lt;Box style={{ width: 244, paddingLeft: 16, justifyContent: 'center' }}&gt;&#10;                        &lt;Text style={{ fontSize: 15, fontWeight: 'bold', color: '#1A2230' }}&gt;ReCAP · 2026&lt;/Text&gt;&#10;                    &lt;/Box&gt;&#10;                    &lt;Box style={{ width: 146, alignItems: 'center', justifyContent: 'center' }}&gt;&#10;                        &lt;Text style={{ fontSize: 15, color: '#1A2230' }}&gt;● 11–35&lt;/Text&gt;&#10;                    &lt;/Box&gt;&#10;                    &lt;Box style={{ width: 126, alignItems: 'center', justifyContent: 'center' }}&gt;&#10;                        &lt;Text style={{ fontSize: 15, color: '#1A2230' }}&gt;● 取前 5&lt;/Text&gt;&#10;                    &lt;/Box&gt;&#10;                    &lt;Box style={{ width: 136, alignItems: 'center', justifyContent: 'center' }}&gt;&#10;                        &lt;Text style={{ fontSize: 15, color: '#1A2230' }}&gt;— 固定 16 帧&lt;/Text&gt;&#10;                    &lt;/Box&gt;&#10;                    &lt;Box style={{ width: 108, alignItems: 'center', justifyContent: 'center' }}&gt;&#10;                        &lt;Text style={{ fontSize: 15, fontWeight: 'bold', color: '#1E4FA8' }}&gt;是&lt;/Text&gt;&#10;                    &lt;/Box&gt;&#10;                &lt;/Box&gt;&#10;&#10;                &lt;Box style={{ width: 760, height: 55, flexDirection: 'row', background: '#F7F9FC' }}&gt;&#10;                    &lt;Box style={{ width: 244, paddingLeft: 16, justifyContent: 'center' }}&gt;&#10;                        &lt;Text style={{ fontSize: 15, fontWeight: 'bold', color: '#1A2230' }}&gt;RoboTTT · 2026&lt;/Text&gt;&#10;                    &lt;/Box&gt;&#10;                    &lt;Box style={{ width: 146, alignItems: 'center', justifyContent: 'center' }}&gt;&#10;                        &lt;Text style={{ fontSize: 15, color: '#8B97A8' }}&gt;—&lt;/Text&gt;&#10;                    &lt;/Box&gt;&#10;                    &lt;Box style={{ width: 126, alignItems: 'center', justifyContent: 'center' }}&gt;&#10;                        &lt;Text style={{ fontSize: 15, color: '#8B97A8' }}&gt;—&lt;/Text&gt;&#10;                    &lt;/Box&gt;&#10;                    &lt;Box style={{ width: 136, alignItems: 'center', justifyContent: 'center' }}&gt;&#10;                        &lt;Text style={{ fontSize: 15, color: '#1A2230' }}&gt;● 128–8000&lt;/Text&gt;&#10;                    &lt;/Box&gt;&#10;                    &lt;Box style={{ width: 108, alignItems: 'center', justifyContent: 'center' }}&gt;&#10;                        &lt;Text style={{ fontSize: 15, color: '#4A5568' }}&gt;否&lt;/Text&gt;&#10;                    &lt;/Box&gt;&#10;                &lt;/Box&gt;&#10;            &lt;/Box&gt;&#10;        &lt;/Box&gt;&#10;&#10;        &lt;Box style={{ width: 1280, height: 118, padding: '10px 96px 0 96px', flexDirection: 'column', justifyContent: 'center' }}&gt;&#10;            &lt;Box style={{ background: '#F0F5FC', borderLeft: '4px solid #1E4FA8', padding: '12px 20px' }}&gt;&#10;                &lt;Text style={{ fontSize: 17, color: '#0E3F8C', lineHeight: 1.6 }}&gt;&#10;                    只有一项同时碰过前三列，而且只是四个格子的粗扫（取 5 条或 10 条 × 每条 3 段或 5 段）。&#10;                    没有任何一项在&quot;总预算固定&quot;的前提下画过等值线——这就是空位。&#10;                &lt;/Text&gt;&#10;            &lt;/Box&gt;&#10;        &lt;/Box&gt;&#10;&#10;        &lt;Box style={{ width: 1280, height: 80, padding: '0 96px 18px 96px', flexDirection: 'row', alignItems: 'flex-end', justifyContent: 'space-between' }}&gt;&#10;            &lt;Text style={{ fontSize: 14, color: '#8B97A8' }}&gt;演示即上下文 · 组会分享&lt;/Text&gt;&#10;            &lt;Text style={{ fontSize: 16, fontWeight: 'bold', color: '#1E4FA8' }}&gt;08 / 15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914400" y="342900"/>
            <a:ext cx="2857500" cy="4629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123950" y="571500"/>
            <a:ext cx="2438400" cy="933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谁调过</a:t>
            </a:r>
            <a:endParaRPr/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哪一根轴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1123950" y="1638300"/>
            <a:ext cx="4191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23950" y="1819275"/>
            <a:ext cx="24384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八项代表工作摊开看。前四列是自变量，最后一列是它要不要为每个新任务付训练成本。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1152525" y="2971800"/>
            <a:ext cx="2438400" cy="1047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1123950" y="2971800"/>
            <a:ext cx="2466975" cy="1047750"/>
          </a:xfrm>
          <a:custGeom>
            <a:pathLst>
              <a:path w="259" h="110">
                <a:moveTo>
                  <a:pt x="0" y="0"/>
                </a:moveTo>
                <a:lnTo>
                  <a:pt x="3" y="0"/>
                </a:lnTo>
                <a:lnTo>
                  <a:pt x="3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285875" y="3086100"/>
            <a:ext cx="2143125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读法提示：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RoboTTT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那一格的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128 – 8000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是训练时的序列长度，不是检索条数，别和上面几行混着读。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23950" y="4248150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371600" y="42672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系统扫过这根轴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123950" y="4533900"/>
            <a:ext cx="247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371600" y="45529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固定不动或没有这根轴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4038600" y="342900"/>
            <a:ext cx="7239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191000" y="476250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代表工作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848475" y="4762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库多大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143875" y="4762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取几条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9315450" y="4762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每条多长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0553700" y="4762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免训练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038600" y="781050"/>
            <a:ext cx="7239000" cy="523875"/>
          </a:xfrm>
          <a:custGeom>
            <a:pathLst>
              <a:path w="760" h="55">
                <a:moveTo>
                  <a:pt x="0" y="54"/>
                </a:moveTo>
                <a:lnTo>
                  <a:pt x="760" y="54"/>
                </a:lnTo>
                <a:lnTo>
                  <a:pt x="7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191000" y="952500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VINN · 2021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638925" y="952500"/>
            <a:ext cx="847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● 930/750/71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115300" y="95250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●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10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534525" y="9525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8B97A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0696575" y="9525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4038600" y="1304925"/>
            <a:ext cx="7239000" cy="514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4038600" y="1304925"/>
            <a:ext cx="7239000" cy="523875"/>
          </a:xfrm>
          <a:custGeom>
            <a:pathLst>
              <a:path w="760" h="55">
                <a:moveTo>
                  <a:pt x="0" y="54"/>
                </a:moveTo>
                <a:lnTo>
                  <a:pt x="760" y="54"/>
                </a:lnTo>
                <a:lnTo>
                  <a:pt x="7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191000" y="1476375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Behavior Retrieval · 2023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991350" y="14763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8B97A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286750" y="14763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8B97A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9534525" y="14763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8B97A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0696575" y="14763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否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4038600" y="1828800"/>
            <a:ext cx="7239000" cy="523875"/>
          </a:xfrm>
          <a:custGeom>
            <a:pathLst>
              <a:path w="760" h="55">
                <a:moveTo>
                  <a:pt x="0" y="54"/>
                </a:moveTo>
                <a:lnTo>
                  <a:pt x="760" y="54"/>
                </a:lnTo>
                <a:lnTo>
                  <a:pt x="7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191000" y="2000250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STRAP · 2024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648450" y="200025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● 76k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条轨迹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7972425" y="2000250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● 100–4000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534525" y="20002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8B97A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0696575" y="20002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否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4038600" y="2352675"/>
            <a:ext cx="7239000" cy="514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4038600" y="2352675"/>
            <a:ext cx="7239000" cy="523875"/>
          </a:xfrm>
          <a:custGeom>
            <a:pathLst>
              <a:path w="760" h="55">
                <a:moveTo>
                  <a:pt x="0" y="54"/>
                </a:moveTo>
                <a:lnTo>
                  <a:pt x="760" y="54"/>
                </a:lnTo>
                <a:lnTo>
                  <a:pt x="7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191000" y="2524125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ReMoBot · 2024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838950" y="252412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● 1–20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115300" y="25241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● 5 / 10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9401175" y="2524125"/>
            <a:ext cx="409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● 3 / 5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696575" y="25241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038600" y="2876550"/>
            <a:ext cx="7239000" cy="523875"/>
          </a:xfrm>
          <a:custGeom>
            <a:pathLst>
              <a:path w="760" h="55">
                <a:moveTo>
                  <a:pt x="0" y="54"/>
                </a:moveTo>
                <a:lnTo>
                  <a:pt x="760" y="54"/>
                </a:lnTo>
                <a:lnTo>
                  <a:pt x="7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191000" y="3048000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MT3 · 2025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838950" y="3048000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● 1–50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039100" y="3048000"/>
            <a:ext cx="628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—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恒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9220200" y="3048000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—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单条完整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0696575" y="30480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4038600" y="3400425"/>
            <a:ext cx="7239000" cy="514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4038600" y="3400425"/>
            <a:ext cx="7239000" cy="523875"/>
          </a:xfrm>
          <a:custGeom>
            <a:pathLst>
              <a:path w="760" h="55">
                <a:moveTo>
                  <a:pt x="0" y="54"/>
                </a:moveTo>
                <a:lnTo>
                  <a:pt x="760" y="54"/>
                </a:lnTo>
                <a:lnTo>
                  <a:pt x="7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4191000" y="3571875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SAIL · 2026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991350" y="35718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8B97A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153400" y="3571875"/>
            <a:ext cx="409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● 1 / 3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534525" y="35718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8B97A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0696575" y="35718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4038600" y="3924300"/>
            <a:ext cx="7239000" cy="523875"/>
          </a:xfrm>
          <a:custGeom>
            <a:pathLst>
              <a:path w="760" h="55">
                <a:moveTo>
                  <a:pt x="0" y="54"/>
                </a:moveTo>
                <a:lnTo>
                  <a:pt x="760" y="54"/>
                </a:lnTo>
                <a:lnTo>
                  <a:pt x="76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191000" y="4095750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ReCAP · 2026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800850" y="409575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● 11–35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086725" y="4095750"/>
            <a:ext cx="53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●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取前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5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9172575" y="40957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—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固定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16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帧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0696575" y="40957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4038600" y="4448175"/>
            <a:ext cx="7239000" cy="5238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191000" y="4629150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RoboTTT · 2026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991350" y="4629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8B97A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286750" y="4629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8B97A8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9220200" y="4629150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● 128–8000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0696575" y="4629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否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952500" y="5153025"/>
            <a:ext cx="10363200" cy="8572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914400" y="5153025"/>
            <a:ext cx="10401300" cy="857250"/>
          </a:xfrm>
          <a:custGeom>
            <a:pathLst>
              <a:path w="1092" h="90">
                <a:moveTo>
                  <a:pt x="0" y="0"/>
                </a:moveTo>
                <a:lnTo>
                  <a:pt x="4" y="0"/>
                </a:lnTo>
                <a:lnTo>
                  <a:pt x="4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143000" y="5267325"/>
            <a:ext cx="99441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只有一项同时碰过前三列，而且只是四个格子的粗扫（取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条或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条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每条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段或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段）。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没有任何一项在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总预算固定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的前提下画过等值线——这就是空位。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914400" y="6524625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演示即上下文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组会分享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0810875" y="649605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97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height: 710, flexDirection: 'row' }}&gt;&#10;            &lt;Box style={{ width: 470, height: 710, background: '#0E3F8C', padding: '96px 48px', flexDirection: 'column', justifyContent: 'space-between' }}&gt;&#10;                &lt;Box&gt;&#10;                    &lt;Text style={{ fontSize: 16, color: '#9DB6DC', letterSpacing: 3 }}&gt;第三部分&lt;/Text&gt;&#10;                    &lt;Text style={{ fontSize: 190, fontWeight: 'bold', color: '#FFFFFF', lineHeight: 1.0, marginTop: 18 }}&gt;03&lt;/Text&gt;&#10;                    &lt;Box style={{ width: 64, height: 4, background: '#FFC107', marginTop: 26 }} /&gt;&#10;                &lt;/Box&gt;&#10;                &lt;Box style={{ flexDirection: 'column' }}&gt;&#10;                    &lt;Text style={{ fontSize: 15, color: '#9DB6DC', lineHeight: 1.8 }}&gt;&#10;                    两个发现和我们原本的直觉相反，第三个让现有的归因数字不可信。&#10;                    &lt;/Text&gt;&#10;                    &lt;Text style={{ fontSize: 15, fontWeight: 'bold', color: '#FFC107', marginTop: 12, letterSpacing: 1 }}&gt;09 / 15&lt;/Text&gt;&#10;                &lt;/Box&gt;&#10;            &lt;/Box&gt;&#10;&#10;            &lt;Box style={{ flex: 1, padding: '70px 96px 44px 72px', flexDirection: 'column', justifyContent: 'space-between' }}&gt;&#10;                &lt;Box style={{ flexDirection: 'column' }}&gt;&#10;                    &lt;Text style={{ fontSize: 40, fontWeight: 'bold', color: '#0E3F8C', lineHeight: 1.3 }}&gt;&#10;                        三个没料到的发现&#10;                    &lt;/Text&gt;&#10;                    &lt;Text style={{ fontSize: 19, color: '#4A5568', lineHeight: 1.8, marginTop: 14 }}&gt;&#10;                        前两个是别人已经测出来、但没被当成问题讲的数字，第三个是我们自己算的。&#10;                    &lt;/Text&gt;&#10;&#10;                    &lt;Box style={{ flexDirection: 'column', gap: 22, marginTop: 32 }}&gt;&#10;                        &lt;Box style={{ flexDirection: 'row', alignItems: 'flex-start' }}&gt;&#10;                            &lt;Box style={{ width: 8, height: 8, background: '#D9534F', marginTop: 12, marginRight: 16 }} /&gt;&#10;                            &lt;Text style={{ flex: 1, fontSize: 20, color: '#1A2230', lineHeight: 1.65 }}&gt;&#10;                                演示给得越多，成功率不一定越高——三处独立证据都出现了下降。&#10;                            &lt;/Text&gt;&#10;                        &lt;/Box&gt;&#10;                        &lt;Box style={{ flexDirection: 'row', alignItems: 'flex-start' }}&gt;&#10;                            &lt;Box style={{ width: 8, height: 8, background: '#D9534F', marginTop: 12, marginRight: 16 }} /&gt;&#10;                            &lt;Text style={{ flex: 1, fontSize: 20, color: '#1A2230', lineHeight: 1.65 }}&gt;&#10;                                领域默认的评测配置分辨不出五个百分点——大量&quot;提升五个点&quot;其实测不出来。&#10;                            &lt;/Text&gt;&#10;                        &lt;/Box&gt;&#10;                        &lt;Box style={{ flexDirection: 'row', alignItems: 'flex-start' }}&gt;&#10;                            &lt;Box style={{ width: 8, height: 8, background: '#D9534F', marginTop: 12, marginRight: 16 }} /&gt;&#10;                            &lt;Text style={{ flex: 1, fontSize: 20, color: '#1A2230', lineHeight: 1.65 }}&gt;&#10;                                分割错、位姿错、检索错会互相伪装——论文里&quot;失败原因占比&quot;不能直接信。&#10;                            &lt;/Text&gt;&#10;                        &lt;/Box&gt;&#10;                    &lt;/Box&gt;&#10;&#10;                    &lt;Box style={{ marginTop: 24, background: '#FFFFFF', border: '1px dashed #8B97A8', padding: '14px 18px' }}&gt;&#10;                        &lt;Text style={{ fontSize: 17, color: '#4A5568', lineHeight: 1.6 }}&gt;&#10;                            共同点：这三件事都不是&quot;做不出来&quot;，而是&quot;没人把它当成一件要测的事&quot;。&#10;                        &lt;/Text&gt;&#10;                    &lt;/Box&gt;&#10;                &lt;/Box&gt;&#10;&#10;                &lt;Box style={{ background: '#F0F5FC', padding: '16px 22px', borderLeft: '4px solid #1E4FA8' }}&gt;&#10;                    &lt;Text style={{ fontSize: 17, color: '#0E3F8C', lineHeight: 1.6 }}&gt;&#10;                        三个发现指向同一件事：这条线上的数字，现在还不能被当成结论用。&#10;                    &lt;/Text&gt;&#10;                &lt;/Box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0" y="95250"/>
            <a:ext cx="4476750" cy="6762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57200" y="1009650"/>
            <a:ext cx="3562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9DB6DC"/>
                </a:solidFill>
                <a:latin typeface="Microsoft YaHei"/>
                <a:ea typeface="Microsoft YaHei"/>
              </a:rPr>
              <a:t>第三部分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57200" y="1371600"/>
            <a:ext cx="356235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457200" y="37909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457200" y="5038725"/>
            <a:ext cx="35623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DB6DC"/>
                </a:solidFill>
                <a:latin typeface="Microsoft YaHei"/>
                <a:ea typeface="Microsoft YaHei"/>
              </a:rPr>
              <a:t>两个发现和我们原本的直觉相反，第三个让现有的归因数字不可信。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457200" y="577215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FFC107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5162550" y="762000"/>
            <a:ext cx="611505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0E3F8C"/>
                </a:solidFill>
                <a:latin typeface="Microsoft YaHei"/>
                <a:ea typeface="Microsoft YaHei"/>
              </a:rPr>
              <a:t>三个没料到的发现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162550" y="1495425"/>
            <a:ext cx="61150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前两个是别人已经测出来、但没被当成问题讲的数字，第三个是我们自己算的。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5162550" y="2705100"/>
            <a:ext cx="76200" cy="76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391150" y="2590800"/>
            <a:ext cx="5886450" cy="381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演示给得越多，成功率不一定越高——三处独立证据都出现了下降。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5162550" y="3295650"/>
            <a:ext cx="76200" cy="76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391150" y="3181350"/>
            <a:ext cx="58864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领域默认的评测配置分辨不出五个百分点——大量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提升五个点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其实测不出来。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5162550" y="4267200"/>
            <a:ext cx="76200" cy="76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391150" y="4152900"/>
            <a:ext cx="58864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分割错、位姿错、检索错会互相伪装——论文里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失败原因占比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不能直接信。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5162550" y="5143500"/>
            <a:ext cx="6115050" cy="581025"/>
          </a:xfrm>
          <a:prstGeom prst="rect">
            <a:avLst/>
          </a:prstGeom>
          <a:solidFill>
            <a:srgbClr val="FFFFFF"/>
          </a:solidFill>
          <a:ln w="12700">
            <a:solidFill>
              <a:srgbClr val="8B97A8"/>
            </a:solidFill>
            <a:prstDash val="dash"/>
          </a:ln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5334000" y="5276850"/>
            <a:ext cx="57721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共同点：这三件事都不是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做不出来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，而是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没人把它当成一件要测的事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5200650" y="5819775"/>
            <a:ext cx="6115050" cy="6191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5162550" y="5819775"/>
            <a:ext cx="6153150" cy="619125"/>
          </a:xfrm>
          <a:custGeom>
            <a:pathLst>
              <a:path w="646" h="65">
                <a:moveTo>
                  <a:pt x="0" y="0"/>
                </a:moveTo>
                <a:lnTo>
                  <a:pt x="4" y="0"/>
                </a:lnTo>
                <a:lnTo>
                  <a:pt x="4" y="65"/>
                </a:lnTo>
                <a:lnTo>
                  <a:pt x="0" y="6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5410200" y="5972175"/>
            <a:ext cx="56578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三个发现指向同一件事：这条线上的数字，现在还不能被当成结论用。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c="http://schemas.openxmlformats.org/drawingml/2006/chart" xmlns:p="http://schemas.openxmlformats.org/presentationml/2006/main" xmlns:a="http://schemas.openxmlformats.org/drawingml/2006/main">
  <p:cSld>
    <p:spTree>
      <p:nvGrpSpPr>
        <p:cNvPr id="13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padding: '24px 96px 0 96px', flexDirection: 'column' }}&gt;&#10;            &lt;Text style={{ fontSize: 34, fontWeight: 'bold', color: '#0E3F8C' }}&gt;发现一：演示给得越多，反而更差&lt;/Text&gt;&#10;            &lt;Text style={{ fontSize: 17, color: '#8B97A8', marginTop: 4 }}&gt;&#10;                三处互相独立的工作里都出现了下降，说明这不是噪声，是有最优区间&#10;            &lt;/Text&gt;&#10;        &lt;/Box&gt;&#10;&#10;        &lt;Box style={{ width: 1280, height: 436, flexDirection: 'row', padding: '14px 96px 0 96px' }}&gt;&#10;            &lt;Box style={{ width: 330, height: 422, background: '#0E3F8C', padding: '24px 24px', flexDirection: 'column', justifyContent: 'space-between' }}&gt;&#10;                &lt;Box style={{ flexDirection: 'column' }}&gt;&#10;                    &lt;Text style={{ fontSize: 15, color: '#9DB6DC', letterSpacing: 2 }}&gt;第一处证据&lt;/Text&gt;&#10;                    &lt;Text style={{ fontSize: 22, fontWeight: 'bold', color: '#FFFFFF', lineHeight: 1.45, marginTop: 12 }}&gt;&#10;                        演示 1 条 → 2 条 → 4 条&#10;                    &lt;/Text&gt;&#10;                    &lt;Text style={{ fontSize: 16, color: '#C9D8EC', lineHeight: 1.7, marginTop: 12 }}&gt;&#10;                        成功率 22.5 → 24.0 → &lt;span style={{ color: '#FFC107', fontWeight: 'bold' }}&gt;19.0&lt;/span&gt;。&#10;                        其中&quot;提起瓶子&quot;这一项从 31 涨到 36，再掉到 &lt;span style={{ color: '#FFC107', fontWeight: 'bold' }}&gt;2&lt;/span&gt;。&#10;                    &lt;/Text&gt;&#10;                &lt;/Box&gt;&#10;                &lt;Box&gt;&#10;                    &lt;Text style={{ fontSize: 14, color: '#9DB6DC', lineHeight: 1.6 }}&gt;&#10;                        数据来自一项触觉演示工作，附录里的消融实验。&#10;                    &lt;/Text&gt;&#10;                &lt;/Box&gt;&#10;            &lt;/Box&gt;&#10;&#10;            &lt;Box style={{ flex: 1, paddingLeft: 26, flexDirection: 'column' }}&gt;&#10;                &lt;Chart&#10;                    style={{ width: '100%', height: 268 }}&#10;                    chartType='barChart'&#10;                    title='演示条数与成功率（%）'&#10;                    titleColor='#0E3F8C'&#10;                    showLegend={false}&#10;                    showDataLabels={true}&#10;                    axisColor='#8B97A8'&#10;                    dataLabelColor='#1A2230'&#10;                    colors={['#1E4FA8']}&#10;                    background='#F7F9FC'&#10;                    data={[&#10;                        ['演示条数', '成功率'],&#10;                        ['1 条', 22.5],&#10;                        ['2 条', 24.0],&#10;                        ['4 条', 19.0],&#10;                    ]}&#10;                /&gt;&#10;&#10;                &lt;Box style={{ flexDirection: 'row', gap: 16, marginTop: 14 }}&gt;&#10;                    &lt;Box style={{ flex: 1, background: '#F7F9FC', borderLeft: '3px solid #D9534F', padding: '12px 16px' }}&gt;&#10;                        &lt;Text style={{ fontSize: 15, fontWeight: 'bold', color: '#1A2230' }}&gt;第二处证据：给 1 帧历史反而更差&lt;/Text&gt;&#10;                        &lt;Text style={{ fontSize: 15, color: '#4A5568', lineHeight: 1.55, marginTop: 4 }}&gt;&#10;                            同一任务上，给一帧历史 &lt;span style={{ fontWeight: 'bold', color: '#D9534F' }}&gt;39.5%&lt;/span&gt;，&#10;                            完全不给历史 &lt;span style={{ fontWeight: 'bold', color: '#1E4FA8' }}&gt;57%&lt;/span&gt;。&#10;                        &lt;/Text&gt;&#10;                    &lt;/Box&gt;&#10;                    &lt;Box style={{ flex: 1, background: '#F7F9FC', borderLeft: '3px solid #D9534F', padding: '12px 16px' }}&gt;&#10;                        &lt;Text style={{ fontSize: 15, fontWeight: 'bold', color: '#1A2230' }}&gt;第三处证据：最优点随任务移动&lt;/Text&gt;&#10;                        &lt;Text style={{ fontSize: 15, color: '#4A5568', lineHeight: 1.55, marginTop: 4 }}&gt;&#10;                            取回条数从 100 扫到 4000，最优值在不同任务上不一样，不是&quot;越大越好&quot;。&#10;                        &lt;/Text&gt;&#10;                    &lt;/Box&gt;&#10;                &lt;/Box&gt;&#10;            &lt;/Box&gt;&#10;        &lt;/Box&gt;&#10;&#10;        &lt;Box style={{ width: 1280, height: 112, padding: '8px 96px 0 96px', flexDirection: 'column', justifyContent: 'center' }}&gt;&#10;            &lt;Box style={{ background: '#F0F5FC', borderLeft: '4px solid #1E4FA8', padding: '12px 20px' }}&gt;&#10;                &lt;Text style={{ fontSize: 18, color: '#0E3F8C', lineHeight: 1.6 }}&gt;&#10;                    这意味着：报&quot;用了三条演示&quot;这种单点结果没有意义，必须画出整条曲线，&#10;                    并且说清最优点在哪里、从哪开始变坏。&#10;                &lt;/Text&gt;&#10;            &lt;/Box&gt;&#10;        &lt;/Box&gt;&#10;&#10;        &lt;Box style={{ width: 1280, height: 68, padding: '0 96px 18px 96px', flexDirection: 'row', alignItems: 'flex-end', justifyContent: 'space-between' }}&gt;&#10;            &lt;Text style={{ fontSize: 14, color: '#8B97A8' }}&gt;演示即上下文 · 组会分享&lt;/Text&gt;&#10;            &lt;Text style={{ fontSize: 16, fontWeight: 'bold', color: '#1E4FA8' }}&gt;10 / 15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14400" y="323850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发现一：演示给得越多，反而更差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14400" y="75247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三处互相独立的工作里都出现了下降，说明这不是噪声，是有最优区间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914400" y="1085850"/>
            <a:ext cx="3143250" cy="40195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43000" y="1314450"/>
            <a:ext cx="2686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9DB6DC"/>
                </a:solidFill>
                <a:latin typeface="Microsoft YaHei"/>
                <a:ea typeface="Microsoft YaHei"/>
              </a:rPr>
              <a:t>第一处证据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43000" y="1600200"/>
            <a:ext cx="268605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演示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条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2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条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4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43000" y="2085975"/>
            <a:ext cx="26860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9D8EC"/>
                </a:solidFill>
                <a:latin typeface="Microsoft YaHei"/>
                <a:ea typeface="Microsoft YaHei"/>
              </a:rPr>
              <a:t>成功率</a:t>
            </a:r>
            <a:r>
              <a:rPr lang="en-US" sz="1200">
                <a:solidFill>
                  <a:srgbClr val="C9D8EC"/>
                </a:solidFill>
                <a:latin typeface="Microsoft YaHei"/>
                <a:ea typeface="Microsoft YaHei"/>
              </a:rPr>
              <a:t xml:space="preserve"> 22.5 → 24.0 → </a:t>
            </a:r>
            <a:r>
              <a:rPr lang="en-US" sz="1200" b="1">
                <a:solidFill>
                  <a:srgbClr val="FFC107"/>
                </a:solidFill>
                <a:latin typeface="Microsoft YaHei"/>
                <a:ea typeface="Microsoft YaHei"/>
              </a:rPr>
              <a:t>19.0</a:t>
            </a:r>
            <a:r>
              <a:rPr lang="zh-CN" sz="1200">
                <a:solidFill>
                  <a:srgbClr val="C9D8EC"/>
                </a:solidFill>
                <a:latin typeface="Microsoft YaHei"/>
                <a:ea typeface="Microsoft YaHei"/>
              </a:rPr>
              <a:t>。</a:t>
            </a:r>
            <a:r>
              <a:rPr lang="en-US" sz="1200">
                <a:solidFill>
                  <a:srgbClr val="C9D8E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C9D8EC"/>
                </a:solidFill>
                <a:latin typeface="Microsoft YaHei"/>
                <a:ea typeface="Microsoft YaHei"/>
              </a:rPr>
              <a:t>其中</a:t>
            </a:r>
            <a:r>
              <a:rPr lang="en-US" sz="1200">
                <a:solidFill>
                  <a:srgbClr val="C9D8EC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9D8EC"/>
                </a:solidFill>
                <a:latin typeface="Microsoft YaHei"/>
                <a:ea typeface="Microsoft YaHei"/>
              </a:rPr>
              <a:t>提起瓶子</a:t>
            </a:r>
            <a:r>
              <a:rPr lang="en-US" sz="1200">
                <a:solidFill>
                  <a:srgbClr val="C9D8EC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9D8EC"/>
                </a:solidFill>
                <a:latin typeface="Microsoft YaHei"/>
                <a:ea typeface="Microsoft YaHei"/>
              </a:rPr>
              <a:t>这一项从</a:t>
            </a:r>
            <a:r>
              <a:rPr lang="en-US" sz="1200">
                <a:solidFill>
                  <a:srgbClr val="C9D8EC"/>
                </a:solidFill>
                <a:latin typeface="Microsoft YaHei"/>
                <a:ea typeface="Microsoft YaHei"/>
              </a:rPr>
              <a:t xml:space="preserve"> 31 </a:t>
            </a:r>
            <a:r>
              <a:rPr lang="zh-CN" sz="1200">
                <a:solidFill>
                  <a:srgbClr val="C9D8EC"/>
                </a:solidFill>
                <a:latin typeface="Microsoft YaHei"/>
                <a:ea typeface="Microsoft YaHei"/>
              </a:rPr>
              <a:t>涨到</a:t>
            </a:r>
            <a:r>
              <a:rPr lang="en-US" sz="1200">
                <a:solidFill>
                  <a:srgbClr val="C9D8EC"/>
                </a:solidFill>
                <a:latin typeface="Microsoft YaHei"/>
                <a:ea typeface="Microsoft YaHei"/>
              </a:rPr>
              <a:t xml:space="preserve"> 36</a:t>
            </a:r>
            <a:r>
              <a:rPr lang="zh-CN" sz="1200">
                <a:solidFill>
                  <a:srgbClr val="C9D8EC"/>
                </a:solidFill>
                <a:latin typeface="Microsoft YaHei"/>
                <a:ea typeface="Microsoft YaHei"/>
              </a:rPr>
              <a:t>，再掉到</a:t>
            </a:r>
            <a:r>
              <a:rPr lang="en-US" sz="1200">
                <a:solidFill>
                  <a:srgbClr val="C9D8EC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00" b="1">
                <a:solidFill>
                  <a:srgbClr val="FFC107"/>
                </a:solidFill>
                <a:latin typeface="Microsoft YaHei"/>
                <a:ea typeface="Microsoft YaHei"/>
              </a:rPr>
              <a:t>2</a:t>
            </a:r>
            <a:r>
              <a:rPr lang="zh-CN" sz="1200">
                <a:solidFill>
                  <a:srgbClr val="C9D8E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43000" y="4362450"/>
            <a:ext cx="2686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DB6DC"/>
                </a:solidFill>
                <a:latin typeface="Microsoft YaHei"/>
                <a:ea typeface="Microsoft YaHei"/>
              </a:rPr>
              <a:t>数据来自一项触觉演示工作，附录里的消融实验。</a:t>
            </a:r>
            <a:endParaRPr/>
          </a:p>
        </p:txBody>
      </p:sp>
      <p:graphicFrame>
        <p:nvGraphicFramePr>
          <p:cNvPr id="23" name="23"/>
          <p:cNvGraphicFramePr/>
          <p:nvPr/>
        </p:nvGraphicFramePr>
        <p:xfrm rot="0" flipH="0" flipV="0">
          <a:off x="4305300" y="1085850"/>
          <a:ext cx="6972300" cy="25527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4" name=""/>
          <p:cNvSpPr/>
          <p:nvPr/>
        </p:nvSpPr>
        <p:spPr>
          <a:xfrm rot="0" flipH="0" flipV="0">
            <a:off x="4333875" y="3771900"/>
            <a:ext cx="3409950" cy="9715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4305300" y="3771900"/>
            <a:ext cx="3438525" cy="971550"/>
          </a:xfrm>
          <a:custGeom>
            <a:pathLst>
              <a:path w="361" h="102">
                <a:moveTo>
                  <a:pt x="0" y="0"/>
                </a:moveTo>
                <a:lnTo>
                  <a:pt x="3" y="0"/>
                </a:lnTo>
                <a:lnTo>
                  <a:pt x="3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486275" y="388620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第二处证据：给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帧历史反而更差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486275" y="4095750"/>
            <a:ext cx="30765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同一任务上，给一帧历史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39.5%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完全不给历史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57%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7896225" y="3771900"/>
            <a:ext cx="3409950" cy="9715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7867650" y="3771900"/>
            <a:ext cx="3438525" cy="971550"/>
          </a:xfrm>
          <a:custGeom>
            <a:pathLst>
              <a:path w="361" h="102">
                <a:moveTo>
                  <a:pt x="0" y="0"/>
                </a:moveTo>
                <a:lnTo>
                  <a:pt x="3" y="0"/>
                </a:lnTo>
                <a:lnTo>
                  <a:pt x="3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048625" y="388620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第三处证据：最优点随任务移动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048625" y="4095750"/>
            <a:ext cx="30765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取回条数从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扫到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4000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，最优值在不同任务上不一样，不是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越大越好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952500" y="5400675"/>
            <a:ext cx="10363200" cy="56197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914400" y="5400675"/>
            <a:ext cx="10401300" cy="561975"/>
          </a:xfrm>
          <a:custGeom>
            <a:pathLst>
              <a:path w="1092" h="59">
                <a:moveTo>
                  <a:pt x="0" y="0"/>
                </a:moveTo>
                <a:lnTo>
                  <a:pt x="4" y="0"/>
                </a:lnTo>
                <a:lnTo>
                  <a:pt x="4" y="59"/>
                </a:lnTo>
                <a:lnTo>
                  <a:pt x="0" y="59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43000" y="5514975"/>
            <a:ext cx="9944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这意味着：报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用了三条演示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这种单点结果没有意义，必须画出整条曲线，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并且说清最优点在哪里、从哪开始变坏。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14400" y="6486525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演示即上下文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组会分享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810875" y="645795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height: 618, flexDirection: 'row', padding: '30px 96px 0 96px' }}&gt;&#10;            &lt;Box style={{ width: 470, flexDirection: 'column', justifyContent: 'center' }}&gt;&#10;                &lt;Text style={{ fontSize: 16, color: '#8B97A8', letterSpacing: 2 }}&gt;发现二 · 我们自己算的&lt;/Text&gt;&#10;                &lt;Text style={{ fontSize: 150, fontWeight: 'bold', color: '#0E3F8C', lineHeight: 1.0, marginTop: 12 }}&gt;9.4&lt;/Text&gt;&#10;                &lt;Text style={{ fontSize: 30, fontWeight: 'bold', color: '#1E4FA8', marginTop: 8 }}&gt;个百分点&lt;/Text&gt;&#10;                &lt;Box style={{ width: 120, height: 4, background: '#D9534F', marginTop: 16 }} /&gt;&#10;                &lt;Text style={{ fontSize: 19, color: '#1A2230', lineHeight: 1.7, marginTop: 18 }}&gt;&#10;                    这是通用仿真基准的默认配置能分辨的&#10;                    &lt;span style={{ fontWeight: 'bold' }}&gt;最小差异&lt;/span&gt;——比我们要测的效应还大。&#10;                &lt;/Text&gt;&#10;            &lt;/Box&gt;&#10;&#10;            &lt;Box style={{ flex: 1, paddingLeft: 40, flexDirection: 'column', justifyContent: 'center', gap: 18 }}&gt;&#10;                &lt;Box style={{ background: '#F7F9FC', border: '1px solid #D6DCE5', padding: '16px 20px' }}&gt;&#10;                    &lt;Text style={{ fontSize: 16, color: '#8B97A8' }}&gt;默认配置是什么&lt;/Text&gt;&#10;                    &lt;Text style={{ fontSize: 19, color: '#1A2230', lineHeight: 1.6, marginTop: 6 }}&gt;&#10;                        20 个任务 × 每个任务跑 20 次 × 1 个随机种子。这个分辨率下，&#10;                        5 个百分点的差异只有 &lt;span style={{ fontWeight: 'bold', color: '#D9534F' }}&gt;30%&lt;/span&gt; 的把握能测出来。&#10;                    &lt;/Text&gt;&#10;                &lt;/Box&gt;&#10;&#10;                &lt;Box style={{ background: '#E8EFF8', border: '1px solid #1E4FA8', padding: '16px 20px' }}&gt;&#10;                    &lt;Text style={{ fontSize: 16, color: '#0E3F8C' }}&gt;换成我们的配置&lt;/Text&gt;&#10;                    &lt;Text style={{ fontSize: 19, color: '#1A2230', lineHeight: 1.6, marginTop: 6 }}&gt;&#10;                        20 个任务 × 50 次 × 3 个种子 → 分辨率 &lt;span style={{ fontWeight: 'bold', color: '#1E4FA8' }}&gt;3.4 个百分点&lt;/span&gt;，&#10;                        把握 &lt;span style={{ fontWeight: 'bold', color: '#1E4FA8' }}&gt;98%&lt;/span&gt;。&#10;                    &lt;/Text&gt;&#10;                &lt;/Box&gt;&#10;&#10;                &lt;Box style={{ flexDirection: 'row', gap: 14 }}&gt;&#10;                    &lt;Box style={{ flex: 1, background: '#FFFFFF', border: '1px solid #D6DCE5', padding: '12px 16px' }}&gt;&#10;                        &lt;Text style={{ fontSize: 15, color: '#8B97A8' }}&gt;成本&lt;/Text&gt;&#10;                        &lt;Text style={{ fontSize: 17, color: '#1A2230', marginTop: 4, lineHeight: 1.5 }}&gt;&#10;                            18 个配置约 10.8 万次试验，一台 4090 一夜到一天。&#10;                        &lt;/Text&gt;&#10;                    &lt;/Box&gt;&#10;                    &lt;Box style={{ flex: 1, background: '#FFFFFF', border: '1px solid #D6DCE5', padding: '12px 16px' }}&gt;&#10;                        &lt;Text style={{ fontSize: 15, color: '#8B97A8' }}&gt;稳健性&lt;/Text&gt;&#10;                        &lt;Text style={{ fontSize: 17, color: '#1A2230', marginTop: 4, lineHeight: 1.5 }}&gt;&#10;                            九组不同假设下都落在 3.4 到 3.8 之间，别人可以复算。&#10;                        &lt;/Text&gt;&#10;                    &lt;/Box&gt;&#10;                &lt;/Box&gt;&#10;            &lt;/Box&gt;&#10;        &lt;/Box&gt;&#10;&#10;        &lt;Box style={{ width: 1280, height: 92, padding: '0 96px', flexDirection: 'column', justifyContent: 'center' }}&gt;&#10;            &lt;Box style={{ background: '#0E3F8C', padding: '14px 22px' }}&gt;&#10;                &lt;Text style={{ fontSize: 18, color: '#FFFFFF', lineHeight: 1.55 }}&gt;&#10;                    所以：领域里大量&quot;提升五个点&quot;的结论，在这个默认配置下本来就测不出来。&#10;                    我们自己的实验，必须先把分辨率讲清楚，再谈效果。&#10;                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14400" y="1409700"/>
            <a:ext cx="447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B97A8"/>
                </a:solidFill>
                <a:latin typeface="Microsoft YaHei"/>
                <a:ea typeface="Microsoft YaHei"/>
              </a:rPr>
              <a:t>发现二</a:t>
            </a:r>
            <a:r>
              <a:rPr lang="en-US" sz="1200" spc="1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8B97A8"/>
                </a:solidFill>
                <a:latin typeface="Microsoft YaHei"/>
                <a:ea typeface="Microsoft YaHei"/>
              </a:rPr>
              <a:t>我们自己算的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14400" y="1714500"/>
            <a:ext cx="44767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0E3F8C"/>
                </a:solidFill>
                <a:latin typeface="Microsoft YaHei"/>
                <a:ea typeface="Microsoft YaHei"/>
              </a:rPr>
              <a:t>9.4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14400" y="3505200"/>
            <a:ext cx="4476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4FA8"/>
                </a:solidFill>
                <a:latin typeface="Microsoft YaHei"/>
                <a:ea typeface="Microsoft YaHei"/>
              </a:rPr>
              <a:t>个百分点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914400" y="4000500"/>
            <a:ext cx="1143000" cy="381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914400" y="4210050"/>
            <a:ext cx="447675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这是通用仿真基准的默认配置能分辨的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最小差异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——比我们要测的效应还大。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772150" y="1247775"/>
            <a:ext cx="5505450" cy="12477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962650" y="1400175"/>
            <a:ext cx="5124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默认配置是什么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962650" y="1647825"/>
            <a:ext cx="51244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个任务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每个任务跑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次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1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个随机种子。这个分辨率下，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个百分点的差异只有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30%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的把握能测出来。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5772150" y="2667000"/>
            <a:ext cx="5505450" cy="1247775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962650" y="2819400"/>
            <a:ext cx="5124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换成我们的配置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962650" y="3067050"/>
            <a:ext cx="51244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个任务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50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次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3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个种子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分辨率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3.4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个百分点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把握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98%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5772150" y="4086225"/>
            <a:ext cx="268605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924550" y="420052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成本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924550" y="4410075"/>
            <a:ext cx="2381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18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个配置约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10.8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万次试验，一台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4090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一夜到一天。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591550" y="4086225"/>
            <a:ext cx="268605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743950" y="420052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稳健性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743950" y="4410075"/>
            <a:ext cx="2381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九组不同假设下都落在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3.4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3.8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之间，别人可以复算。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914400" y="6124575"/>
            <a:ext cx="10363200" cy="5905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23950" y="6257925"/>
            <a:ext cx="99441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所以：领域里大量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提升五个点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的结论，在这个默认配置下本来就测不出来。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我们自己的实验，必须先把分辨率讲清楚，再谈效果。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9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padding: '22px 96px 0 96px', flexDirection: 'column' }}&gt;&#10;            &lt;Text style={{ fontSize: 34, fontWeight: 'bold', color: '#0E3F8C' }}&gt;发现三：三种错误，会互相伪装&lt;/Text&gt;&#10;            &lt;Text style={{ fontSize: 17, color: '#8B97A8', marginTop: 4 }}&gt;&#10;                只看最后成没成，分不清是哪一环断的&#10;            &lt;/Text&gt;&#10;        &lt;/Box&gt;&#10;&#10;        &lt;Box style={{ width: 1280, height: 424, flexDirection: 'row', padding: '14px 96px 0 96px' }}&gt;&#10;            &lt;Box style={{ width: 336, height: 410, flexDirection: 'column', justifyContent: 'space-between' }}&gt;&#10;                &lt;Box style={{ flexDirection: 'column' }}&gt;&#10;                    &lt;Text style={{ fontSize: 20, fontWeight: 'bold', color: '#1A2230', lineHeight: 1.5 }}&gt;&#10;                        一个分割错误，会被记成位姿错误&#10;                    &lt;/Text&gt;&#10;                    &lt;Text style={{ fontSize: 16, color: '#4A5568', lineHeight: 1.7, marginTop: 8 }}&gt;&#10;                        掩码混进了桌面，深度中位数就偏了；位姿模块拿到偏掉的初值，&#10;                        还会&quot;自信地&quot;收敛到一个错误答案——它看不到掩码是错的。&#10;                    &lt;/Text&gt;&#10;                &lt;/Box&gt;&#10;&#10;                &lt;Box style={{ background: '#F0F5FC', borderLeft: '4px solid #1E4FA8', padding: '12px 14px' }}&gt;&#10;                    &lt;Text style={{ fontSize: 15, color: '#0E3F8C', lineHeight: 1.6 }}&gt;&#10;                        所以论文里&quot;检索失败占 22.3%&quot;这类数字，如果是端到端打一个标签归出来的，就不能直接信。&#10;                    &lt;/Text&gt;&#10;                &lt;/Box&gt;&#10;&#10;                &lt;Box style={{ background: '#FFFFFF', border: '1px dashed #8B97A8', padding: '12px 14px' }}&gt;&#10;                    &lt;Text style={{ fontSize: 15, color: '#1A2230', lineHeight: 1.6 }}&gt;&#10;                        &lt;span style={{ fontWeight: 'bold' }}&gt;唯一可靠的办法：&lt;/span&gt;&#10;                        拿真值掩码、真值位姿重跑一小批（比如 10% 的回合），看成功率怎么变。&#10;                    &lt;/Text&gt;&#10;                &lt;/Box&gt;&#10;            &lt;/Box&gt;&#10;&#10;            &lt;Box style={{ flex: 1, paddingLeft: 28, height: 410, flexDirection: 'column' }}&gt;&#10;                &lt;Box style={{ width: 724, height: 52, flexDirection: 'row', background: '#0E3F8C' }}&gt;&#10;                    &lt;Box style={{ width: 150, paddingLeft: 16, justifyContent: 'center' }}&gt;&#10;                        &lt;Text style={{ fontSize: 15, fontWeight: 'bold', color: '#FFFFFF' }}&gt;真实原因&lt;/Text&gt;&#10;                    &lt;/Box&gt;&#10;                    &lt;Box style={{ width: 110, alignItems: 'center', justifyContent: 'center' }}&gt;&#10;                        &lt;Text style={{ fontSize: 15, fontWeight: 'bold', color: '#FFFFFF' }}&gt;被当成&lt;/Text&gt;&#10;                    &lt;/Box&gt;&#10;                    &lt;Box style={{ width: 464, paddingLeft: 16, justifyContent: 'center' }}&gt;&#10;                        &lt;Text style={{ fontSize: 15, fontWeight: 'bold', color: '#FFFFFF' }}&gt;为什么分不开&lt;/Text&gt;&#10;                    &lt;/Box&gt;&#10;                &lt;/Box&gt;&#10;&#10;                &lt;Box style={{ width: 724, height: 89, flexDirection: 'row', borderBottom: '1px solid #E5E7EB' }}&gt;&#10;                    &lt;Box style={{ width: 150, paddingLeft: 16, justifyContent: 'center' }}&gt;&#10;                        &lt;Text style={{ fontSize: 15, fontWeight: 'bold', color: '#1A2230' }}&gt;分割错&lt;/Text&gt;&#10;                    &lt;/Box&gt;&#10;                    &lt;Box style={{ width: 110, alignItems: 'center', justifyContent: 'center' }}&gt;&#10;                        &lt;Text style={{ fontSize: 15, fontWeight: 'bold', color: '#D9534F' }}&gt;位姿错&lt;/Text&gt;&#10;                    &lt;/Box&gt;&#10;                    &lt;Box style={{ width: 464, paddingLeft: 16, justifyContent: 'center' }}&gt;&#10;                        &lt;Text style={{ fontSize: 15, color: '#1A2230', lineHeight: 1.5 }}&gt;掩码混入桌面 → 深度初值偏移 → 位姿自信地收敛到错处&lt;/Text&gt;&#10;                    &lt;/Box&gt;&#10;                &lt;/Box&gt;&#10;&#10;                &lt;Box style={{ width: 724, height: 89, flexDirection: 'row', background: '#F7F9FC', borderBottom: '1px solid #E5E7EB' }}&gt;&#10;                    &lt;Box style={{ width: 150, paddingLeft: 16, justifyContent: 'center' }}&gt;&#10;                        &lt;Text style={{ fontSize: 15, fontWeight: 'bold', color: '#1A2230' }}&gt;对称物体翻转&lt;/Text&gt;&#10;                    &lt;/Box&gt;&#10;                    &lt;Box style={{ width: 110, alignItems: 'center', justifyContent: 'center' }}&gt;&#10;                        &lt;Text style={{ fontSize: 15, fontWeight: 'bold', color: '#D9534F' }}&gt;分割错&lt;/Text&gt;&#10;                    &lt;/Box&gt;&#10;                    &lt;Box style={{ width: 464, paddingLeft: 16, justifyContent: 'center' }}&gt;&#10;                        &lt;Text style={{ fontSize: 15, color: '#1A2230', lineHeight: 1.5 }}&gt;误差很大，但掩码其实是对的&lt;/Text&gt;&#10;                    &lt;/Box&gt;&#10;                &lt;/Box&gt;&#10;&#10;                &lt;Box style={{ width: 724, height: 89, flexDirection: 'row', borderBottom: '1px solid #E5E7EB' }}&gt;&#10;                    &lt;Box style={{ width: 150, paddingLeft: 16, justifyContent: 'center' }}&gt;&#10;                        &lt;Text style={{ fontSize: 15, fontWeight: 'bold', color: '#1A2230' }}&gt;检索到相似物&lt;/Text&gt;&#10;                    &lt;/Box&gt;&#10;                    &lt;Box style={{ width: 110, alignItems: 'center', justifyContent: 'center' }}&gt;&#10;                        &lt;Text style={{ fontSize: 15, fontWeight: 'bold', color: '#D9534F' }}&gt;位姿错&lt;/Text&gt;&#10;                    &lt;/Box&gt;&#10;                    &lt;Box style={{ width: 464, paddingLeft: 16, justifyContent: 'center' }}&gt;&#10;                        &lt;Text style={{ fontSize: 15, color: '#1A2230', lineHeight: 1.5 }}&gt;对错误的物体估得很准，位姿分数反而更高&lt;/Text&gt;&#10;                    &lt;/Box&gt;&#10;                &lt;/Box&gt;&#10;&#10;                &lt;Box style={{ width: 724, height: 89, flexDirection: 'row', background: '#F7F9FC' }}&gt;&#10;                    &lt;Box style={{ width: 150, paddingLeft: 16, justifyContent: 'center' }}&gt;&#10;                        &lt;Text style={{ fontSize: 15, fontWeight: 'bold', color: '#1A2230' }}&gt;跟踪漂移&lt;/Text&gt;&#10;                    &lt;/Box&gt;&#10;                    &lt;Box style={{ width: 110, alignItems: 'center', justifyContent: 'center' }}&gt;&#10;                        &lt;Text style={{ fontSize: 15, fontWeight: 'bold', color: '#D9534F' }}&gt;检索错&lt;/Text&gt;&#10;                    &lt;/Box&gt;&#10;                    &lt;Box style={{ width: 464, paddingLeft: 16, justifyContent: 'center' }}&gt;&#10;                        &lt;Text style={{ fontSize: 15, color: '#1A2230', lineHeight: 1.5 }}&gt;首帧其实是对的，错在后面的传播&lt;/Text&gt;&#10;                    &lt;/Box&gt;&#10;                &lt;/Box&gt;&#10;            &lt;/Box&gt;&#10;        &lt;/Box&gt;&#10;&#10;        &lt;Box style={{ width: 1280, height: 135, padding: '12px 96px 0 96px', flexDirection: 'column', justifyContent: 'center' }}&gt;&#10;            &lt;Box style={{ background: '#F7F9FC', padding: '16px 20px' }}&gt;&#10;                &lt;Text style={{ fontSize: 17, color: '#1A2230', lineHeight: 1.65 }}&gt;&#10;                    &lt;span style={{ fontWeight: 'bold', color: '#0E3F8C' }}&gt;要记的东西：&lt;/span&gt;&#10;                    每一帧的掩码面积与点数、位姿前两名假设的分数差、帧间旋转跳变、抓取位姿与成败。&#10;                    这些量不记，事后只能靠猜。&#10;                &lt;/Text&gt;&#10;            &lt;/Box&gt;&#10;        &lt;/Box&gt;&#10;&#10;        &lt;Box style={{ width: 1280, height: 60, padding: '0 96px 18px 96px', flexDirection: 'row', alignItems: 'flex-end', justifyContent: 'space-between' }}&gt;&#10;            &lt;Text style={{ fontSize: 14, color: '#8B97A8' }}&gt;演示即上下文 · 组会分享&lt;/Text&gt;&#10;            &lt;Text style={{ fontSize: 16, fontWeight: 'bold', color: '#1E4FA8' }}&gt;12 / 15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14400" y="304800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发现三：三种错误，会互相伪装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14400" y="73342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只看最后成没成，分不清是哪一环断的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14400" y="1066800"/>
            <a:ext cx="32004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一个分割错误，会被记成位姿错误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14400" y="1485900"/>
            <a:ext cx="32004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掩码混进了桌面，深度中位数就偏了；位姿模块拿到偏掉的初值，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还会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自信地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收敛到一个错误答案——它看不到掩码是错的。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952500" y="2638425"/>
            <a:ext cx="3200400" cy="105727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914400" y="2638425"/>
            <a:ext cx="3238500" cy="1057275"/>
          </a:xfrm>
          <a:custGeom>
            <a:pathLst>
              <a:path w="340" h="111">
                <a:moveTo>
                  <a:pt x="0" y="0"/>
                </a:moveTo>
                <a:lnTo>
                  <a:pt x="4" y="0"/>
                </a:lnTo>
                <a:lnTo>
                  <a:pt x="4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085850" y="2752725"/>
            <a:ext cx="28956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所以论文里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检索失败占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 xml:space="preserve"> 22.3%"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这类数字，如果是端到端打一个标签归出来的，就不能直接信。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914400" y="3914775"/>
            <a:ext cx="3200400" cy="1057275"/>
          </a:xfrm>
          <a:prstGeom prst="rect">
            <a:avLst/>
          </a:prstGeom>
          <a:solidFill>
            <a:srgbClr val="FFFFFF"/>
          </a:solidFill>
          <a:ln w="12700">
            <a:solidFill>
              <a:srgbClr val="8B97A8"/>
            </a:solidFill>
            <a:prstDash val="dash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47750" y="4029075"/>
            <a:ext cx="29337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唯一可靠的办法：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拿真值掩码、真值位姿重跑一小批（比如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10%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的回合），看成功率怎么变。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4381500" y="1066800"/>
            <a:ext cx="68961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533900" y="12287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真实原因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124575" y="12287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被当成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010400" y="12287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为什么分不开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381500" y="1562100"/>
            <a:ext cx="6896100" cy="847725"/>
          </a:xfrm>
          <a:custGeom>
            <a:pathLst>
              <a:path w="724" h="89">
                <a:moveTo>
                  <a:pt x="0" y="88"/>
                </a:moveTo>
                <a:lnTo>
                  <a:pt x="724" y="88"/>
                </a:lnTo>
                <a:lnTo>
                  <a:pt x="724" y="89"/>
                </a:lnTo>
                <a:lnTo>
                  <a:pt x="0" y="8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533900" y="189547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分割错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124575" y="18954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位姿错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010400" y="185737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掩码混入桌面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深度初值偏移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位姿自信地收敛到错处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381500" y="2409825"/>
            <a:ext cx="6896100" cy="8382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381500" y="2409825"/>
            <a:ext cx="6896100" cy="847725"/>
          </a:xfrm>
          <a:custGeom>
            <a:pathLst>
              <a:path w="724" h="89">
                <a:moveTo>
                  <a:pt x="0" y="88"/>
                </a:moveTo>
                <a:lnTo>
                  <a:pt x="724" y="88"/>
                </a:lnTo>
                <a:lnTo>
                  <a:pt x="724" y="89"/>
                </a:lnTo>
                <a:lnTo>
                  <a:pt x="0" y="8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533900" y="2743200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对称物体翻转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124575" y="27432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分割错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010400" y="270510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误差很大，但掩码其实是对的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381500" y="3257550"/>
            <a:ext cx="6896100" cy="847725"/>
          </a:xfrm>
          <a:custGeom>
            <a:pathLst>
              <a:path w="724" h="89">
                <a:moveTo>
                  <a:pt x="0" y="88"/>
                </a:moveTo>
                <a:lnTo>
                  <a:pt x="724" y="88"/>
                </a:lnTo>
                <a:lnTo>
                  <a:pt x="724" y="89"/>
                </a:lnTo>
                <a:lnTo>
                  <a:pt x="0" y="8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533900" y="35909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检索到相似物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124575" y="35909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位姿错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010400" y="355282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对错误的物体估得很准，位姿分数反而更高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381500" y="4105275"/>
            <a:ext cx="6896100" cy="8477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533900" y="444817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跟踪漂移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124575" y="44481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检索错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010400" y="440055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首帧其实是对的，错在后面的传播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914400" y="5362575"/>
            <a:ext cx="10363200" cy="6286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04900" y="5514975"/>
            <a:ext cx="998220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要记的东西：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每一帧的掩码面积与点数、位姿前两名假设的分数差、帧间旋转跳变、抓取位姿与成败。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这些量不记，事后只能靠猜。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14400" y="6496050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演示即上下文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组会分享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810875" y="6467475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6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height: 710, flexDirection: 'row' }}&gt;&#10;            &lt;Box style={{ width: 470, height: 710, background: '#0E3F8C', padding: '96px 48px', flexDirection: 'column', justifyContent: 'space-between' }}&gt;&#10;                &lt;Box&gt;&#10;                    &lt;Text style={{ fontSize: 16, color: '#9DB6DC', letterSpacing: 3 }}&gt;第四部分&lt;/Text&gt;&#10;                    &lt;Text style={{ fontSize: 190, fontWeight: 'bold', color: '#FFFFFF', lineHeight: 1.0, marginTop: 18 }}&gt;04&lt;/Text&gt;&#10;                    &lt;Box style={{ width: 64, height: 4, background: '#FFC107', marginTop: 26 }} /&gt;&#10;                &lt;/Box&gt;&#10;                &lt;Box style={{ flexDirection: 'column', gap: 14 }}&gt;&#10;                    &lt;Box style={{ flexDirection: 'row', alignItems: 'center' }}&gt;&#10;                        &lt;Text style={{ fontSize: 15, color: '#FFC107', width: 30 }}&gt;一&lt;/Text&gt;&#10;                        &lt;Text style={{ fontSize: 17, color: '#C9D8EC' }}&gt;预算等值线&lt;/Text&gt;&#10;                    &lt;/Box&gt;&#10;                    &lt;Box style={{ flexDirection: 'row', alignItems: 'center' }}&gt;&#10;                        &lt;Text style={{ fontSize: 15, color: '#FFC107', width: 30 }}&gt;二&lt;/Text&gt;&#10;                        &lt;Text style={{ fontSize: 17, color: '#C9D8EC' }}&gt;换算率协议&lt;/Text&gt;&#10;                    &lt;/Box&gt;&#10;                    &lt;Box style={{ flexDirection: 'row', alignItems: 'center' }}&gt;&#10;                        &lt;Text style={{ fontSize: 15, color: '#FFC107', width: 30 }}&gt;三&lt;/Text&gt;&#10;                        &lt;Text style={{ fontSize: 17, color: '#C9D8EC' }}&gt;阶段级归因&lt;/Text&gt;&#10;                    &lt;/Box&gt;&#10;                &lt;/Box&gt;&#10;                &lt;Box style={{ flexDirection: 'column' }}&gt;&#10;                    &lt;Text style={{ fontSize: 15, color: '#9DB6DC', lineHeight: 1.8 }}&gt;&#10;                    三件事，标准是同一条：别人能不能照着复算。&#10;                    &lt;/Text&gt;&#10;                    &lt;Text style={{ fontSize: 15, fontWeight: 'bold', color: '#FFC107', marginTop: 12, letterSpacing: 1 }}&gt;13 / 15&lt;/Text&gt;&#10;                &lt;/Box&gt;&#10;            &lt;/Box&gt;&#10;&#10;            &lt;Box style={{ flex: 1, padding: '70px 150px 44px 72px', flexDirection: 'column', justifyContent: 'space-between' }}&gt;&#10;                &lt;Box style={{ flexDirection: 'column' }}&gt;&#10;                    &lt;Text style={{ fontSize: 40, fontWeight: 'bold', color: '#0E3F8C', lineHeight: 1.3 }}&gt;&#10;                        接下来要做什么&#10;                    &lt;/Text&gt;&#10;                    &lt;Text style={{ fontSize: 19, color: '#4A5568', lineHeight: 1.8, marginTop: 14 }}&gt;&#10;                        不是再做一个更强的策略，而是把这条路上的三个数字变成别人能复算的东西。&#10;                    &lt;/Text&gt;&#10;&#10;                    &lt;Box style={{ flexDirection: 'column', gap: 22, marginTop: 32 }}&gt;&#10;                        &lt;Box style={{ flexDirection: 'row', alignItems: 'flex-start' }}&gt;&#10;                            &lt;Box style={{ width: 8, height: 8, background: '#1E4FA8', marginTop: 12, marginRight: 16 }} /&gt;&#10;                            &lt;Text style={{ flex: 1, fontSize: 20, color: '#1A2230', lineHeight: 1.65 }}&gt;&#10;                                固定总预算，画&quot;取几条 × 每条多长&quot;的等值线。&#10;                            &lt;/Text&gt;&#10;                        &lt;/Box&gt;&#10;                        &lt;Box style={{ flexDirection: 'row', alignItems: 'flex-start' }}&gt;&#10;                            &lt;Box style={{ width: 8, height: 8, background: '#1E4FA8', marginTop: 12, marginRight: 16 }} /&gt;&#10;                            &lt;Text style={{ flex: 1, fontSize: 20, color: '#1A2230', lineHeight: 1.65 }}&gt;&#10;                                一条上下文演示相当于多少条训练示范——给出可复算的换算规则。&#10;                            &lt;/Text&gt;&#10;                        &lt;/Box&gt;&#10;                        &lt;Box style={{ flexDirection: 'row', alignItems: 'flex-start' }}&gt;&#10;                            &lt;Box style={{ width: 8, height: 8, background: '#1E4FA8', marginTop: 12, marginRight: 16 }} /&gt;&#10;                            &lt;Text style={{ flex: 1, fontSize: 20, color: '#1A2230', lineHeight: 1.65 }}&gt;&#10;                                把&quot;哪一步断了&quot;变成带置信区间的估计，而不是事后人工归类。&#10;                            &lt;/Text&gt;&#10;                        &lt;/Box&gt;&#10;                    &lt;/Box&gt;&#10;&#10;                    &lt;Box style={{ marginTop: 24, background: '#FFFFFF', border: '1px dashed #8B97A8', padding: '14px 18px' }}&gt;&#10;                        &lt;Text style={{ fontSize: 17, color: '#4A5568', lineHeight: 1.6 }}&gt;&#10;                            三条底线：等算力、等数据、检索度量固定——少一条，曲线就不可解释。&#10;                        &lt;/Text&gt;&#10;                    &lt;/Box&gt;&#10;                &lt;/Box&gt;&#10;&#10;                &lt;Box style={{ background: '#F0F5FC', padding: '16px 22px', borderLeft: '4px solid #1E4FA8' }}&gt;&#10;                    &lt;Text style={{ fontSize: 17, color: '#0E3F8C', lineHeight: 1.6 }}&gt;&#10;                        这三件事都是零训练或低成本实验，不需要新硬件。&#10;                    &lt;/Text&gt;&#10;                &lt;/Box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0" y="95250"/>
            <a:ext cx="4476750" cy="6762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57200" y="1009650"/>
            <a:ext cx="3562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9DB6DC"/>
                </a:solidFill>
                <a:latin typeface="Microsoft YaHei"/>
                <a:ea typeface="Microsoft YaHei"/>
              </a:rPr>
              <a:t>第四部分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57200" y="1371600"/>
            <a:ext cx="356235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457200" y="37909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57200" y="41719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C107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42950" y="415290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D8EC"/>
                </a:solidFill>
                <a:latin typeface="Microsoft YaHei"/>
                <a:ea typeface="Microsoft YaHei"/>
              </a:rPr>
              <a:t>预算等值线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57200" y="45053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C107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42950" y="44862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D8EC"/>
                </a:solidFill>
                <a:latin typeface="Microsoft YaHei"/>
                <a:ea typeface="Microsoft YaHei"/>
              </a:rPr>
              <a:t>换算率协议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57200" y="48387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C107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42950" y="48196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D8EC"/>
                </a:solidFill>
                <a:latin typeface="Microsoft YaHei"/>
                <a:ea typeface="Microsoft YaHei"/>
              </a:rPr>
              <a:t>阶段级归因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57200" y="5343525"/>
            <a:ext cx="356235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DB6DC"/>
                </a:solidFill>
                <a:latin typeface="Microsoft YaHei"/>
                <a:ea typeface="Microsoft YaHei"/>
              </a:rPr>
              <a:t>三件事，标准是同一条：别人能不能照着复算。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57200" y="577215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FFC107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162550" y="762000"/>
            <a:ext cx="560070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0E3F8C"/>
                </a:solidFill>
                <a:latin typeface="Microsoft YaHei"/>
                <a:ea typeface="Microsoft YaHei"/>
              </a:rPr>
              <a:t>接下来要做什么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162550" y="1495425"/>
            <a:ext cx="56007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不是再做一个更强的策略，而是把这条路上的三个数字变成别人能复算的东西。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162550" y="270510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391150" y="2590800"/>
            <a:ext cx="5372100" cy="381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固定总预算，画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取几条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每条多长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的等值线。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162550" y="329565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391150" y="3181350"/>
            <a:ext cx="53721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一条上下文演示相当于多少条训练示范——给出可复算的换算规则。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5162550" y="4267200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391150" y="4152900"/>
            <a:ext cx="5372100" cy="381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把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哪一步断了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变成带置信区间的估计，而不是事后人工归类。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5162550" y="4762500"/>
            <a:ext cx="5600700" cy="89535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7A8"/>
            </a:solidFill>
            <a:prstDash val="dash"/>
          </a:ln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334000" y="4895850"/>
            <a:ext cx="5257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三条底线：等算力、等数据、检索度量固定——少一条，曲线就不可解释。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200650" y="5819775"/>
            <a:ext cx="5600700" cy="6191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5162550" y="5819775"/>
            <a:ext cx="5638800" cy="619125"/>
          </a:xfrm>
          <a:custGeom>
            <a:pathLst>
              <a:path w="592" h="65">
                <a:moveTo>
                  <a:pt x="0" y="0"/>
                </a:moveTo>
                <a:lnTo>
                  <a:pt x="4" y="0"/>
                </a:lnTo>
                <a:lnTo>
                  <a:pt x="4" y="65"/>
                </a:lnTo>
                <a:lnTo>
                  <a:pt x="0" y="6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410200" y="5972175"/>
            <a:ext cx="5143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这三件事都是零训练或低成本实验，不需要新硬件。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4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height: 548, flexDirection: 'row', padding: '26px 96px 0 96px' }}&gt;&#10;            &lt;Box style={{ width: 286, height: 522, background: '#F7F9FC', borderTop: '4px solid #0E3F8C', padding: '24px 22px', flexDirection: 'column', justifyContent: 'space-between' }}&gt;&#10;                &lt;Box style={{ flexDirection: 'column' }}&gt;&#10;                    &lt;Text style={{ fontSize: 30, fontWeight: 'bold', color: '#0E3F8C', lineHeight: 1.35, fontFamily: 'Heiti SC' }}&gt;&#10;                        我们要补的&#10;                        &lt;br /&gt;&#10;                        三件测量&#10;                    &lt;/Text&gt;&#10;                    &lt;Text style={{ fontSize: 16, color: '#4A5568', lineHeight: 1.7, marginTop: 14 }}&gt;&#10;                        每一件都能落成一张图或一张表，别人拿着我们的数据和代码可以重算。&#10;                    &lt;/Text&gt;&#10;                &lt;/Box&gt;&#10;                &lt;Box style={{ flexDirection: 'column' }}&gt;&#10;                    &lt;Box style={{ width: 44, height: 1, background: '#D6DCE5' }} /&gt;&#10;                    &lt;Text style={{ fontSize: 15, color: '#4A5568', lineHeight: 1.75, marginTop: 14 }}&gt;&#10;                        前两件管&quot;给多少上下文&quot;，第三件管&quot;断在哪一环&quot;。前者决定画什么图，后者决定这张图能不能解释。&#10;                    &lt;/Text&gt;&#10;                &lt;/Box&gt;&#10;                &lt;Box style={{ flexDirection: 'column', gap: 10 }}&gt;&#10;                    &lt;Text style={{ fontSize: 15, color: '#8B97A8', lineHeight: 1.6 }}&gt;&#10;                        共同前提：仿真里做，不需要新硬件。&#10;                    &lt;/Text&gt;&#10;                    &lt;Text style={{ fontSize: 15, color: '#1E4FA8', fontWeight: 'bold', lineHeight: 1.6 }}&gt;&#10;                        一台显卡一夜到一天一轮。&#10;                    &lt;/Text&gt;&#10;                &lt;/Box&gt;&#10;            &lt;/Box&gt;&#10;&#10;            &lt;Box style={{ flex: 1, paddingLeft: 30, flexDirection: 'column', justifyContent: 'space-between' }}&gt;&#10;                &lt;Box style={{ flexDirection: 'row', alignItems: 'flex-start', borderBottom: '1px solid #E5E7EB', paddingBottom: 14 }}&gt;&#10;                    &lt;Text style={{ width: 46, fontSize: 26, fontWeight: 'bold', color: '#1E4FA8' }}&gt;一&lt;/Text&gt;&#10;                    &lt;Box style={{ flex: 1, flexDirection: 'column' }}&gt;&#10;                        &lt;Text style={{ fontSize: 21, fontWeight: 'bold', color: '#1A2230' }}&gt;预算等值线：在总预算固定下换组合&lt;/Text&gt;&#10;                        &lt;Text style={{ fontSize: 16, color: '#4A5568', lineHeight: 1.65, marginTop: 5 }}&gt;&#10;                            同样是 32 段上下文，可以是&quot;取 4 条 × 每条 8 段&quot;，也可以是&quot;取 1 条 × 每条 32 段&quot;。&#10;                            不固定总预算，&quot;多给几条&quot;和&quot;每条更长&quot;就混在一起，分不清是谁的功劳。&#10;                        &lt;/Text&gt;&#10;                    &lt;/Box&gt;&#10;                &lt;/Box&gt;&#10;&#10;                &lt;Box style={{ flexDirection: 'row', alignItems: 'flex-start', borderBottom: '1px solid #E5E7EB', paddingBottom: 14 }}&gt;&#10;                    &lt;Text style={{ width: 46, fontSize: 26, fontWeight: 'bold', color: '#1E4FA8' }}&gt;二&lt;/Text&gt;&#10;                    &lt;Box style={{ flex: 1, flexDirection: 'column' }}&gt;&#10;                        &lt;Text style={{ fontSize: 21, fontWeight: 'bold', color: '#1A2230' }}&gt;换算率：一条演示顶多少条训练示范&lt;/Text&gt;&#10;                        &lt;Text style={{ fontSize: 16, color: '#4A5568', lineHeight: 1.65, marginTop: 5 }}&gt;&#10;                            必须同时报三样：插值规则、相邻测点之间的距离、交叉点的置信区间。&#10;                            现在唯一公开的数字来自厂商博客，是插值估出来的——换一种插值方式，结果差 14%。&#10;                        &lt;/Text&gt;&#10;                    &lt;/Box&gt;&#10;                &lt;/Box&gt;&#10;&#10;                &lt;Box style={{ flexDirection: 'row', alignItems: 'flex-start' }}&gt;&#10;                    &lt;Text style={{ width: 46, fontSize: 26, fontWeight: 'bold', color: '#1E4FA8' }}&gt;三&lt;/Text&gt;&#10;                    &lt;Box style={{ flex: 1, flexDirection: 'column' }}&gt;&#10;                        &lt;Text style={{ fontSize: 21, fontWeight: 'bold', color: '#1A2230' }}&gt;阶段级归因：把&quot;哪一步断了&quot;变成区间估计&lt;/Text&gt;&#10;                        &lt;Text style={{ fontSize: 16, color: '#4A5568', lineHeight: 1.65, marginTop: 5 }}&gt;&#10;                            在评测的统计模型里加一个&quot;阶段&quot;项，输出&quot;某方法在某阶段显著更差&quot;以及它的置信区间；&#10;                            再用真值掩码、真值位姿做反事实校验，防止三种错误互相伪装。&#10;                        &lt;/Text&gt;&#10;                    &lt;/Box&gt;&#10;                &lt;/Box&gt;&#10;            &lt;/Box&gt;&#10;        &lt;/Box&gt;&#10;&#10;        &lt;Box style={{ width: 1280, height: 110, padding: '12px 96px 0 96px', flexDirection: 'column', justifyContent: 'center' }}&gt;&#10;            &lt;Box style={{ background: '#0E3F8C', padding: '13px 20px', flexDirection: 'row', alignItems: 'center' }}&gt;&#10;                &lt;Text style={{ fontSize: 18, color: '#FFC107', fontWeight: 'bold' }}&gt;三条底线&lt;/Text&gt;&#10;                &lt;Text style={{ fontSize: 18, color: '#FFFFFF', marginLeft: 16 }}&gt;&#10;                    等算力、等数据、检索度量固定——少一条，画出来的曲线就不可解释。&#10;                &lt;/Text&gt;&#10;            &lt;/Box&gt;&#10;        &lt;/Box&gt;&#10;&#10;        &lt;Box style={{ width: 1280, height: 52, padding: '0 96px 18px 96px', flexDirection: 'row', alignItems: 'flex-end', justifyContent: 'space-between' }}&gt;&#10;            &lt;Text style={{ fontSize: 14, color: '#8B97A8' }}&gt;演示即上下文 · 组会分享&lt;/Text&gt;&#10;            &lt;Text style={{ fontSize: 16, fontWeight: 'bold', color: '#1E4FA8' }}&gt;14 / 15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914400" y="381000"/>
            <a:ext cx="2724150" cy="49339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914400" y="342900"/>
            <a:ext cx="2724150" cy="4972050"/>
          </a:xfrm>
          <a:custGeom>
            <a:pathLst>
              <a:path w="286" h="522">
                <a:moveTo>
                  <a:pt x="0" y="0"/>
                </a:moveTo>
                <a:lnTo>
                  <a:pt x="286" y="0"/>
                </a:lnTo>
                <a:lnTo>
                  <a:pt x="286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23950" y="609600"/>
            <a:ext cx="2305050" cy="933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E3F8C"/>
                </a:solidFill>
                <a:latin typeface="Heiti SC"/>
                <a:ea typeface="Heiti SC"/>
              </a:rPr>
              <a:t>我们要补的</a:t>
            </a:r>
            <a:endParaRPr/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E3F8C"/>
                </a:solidFill>
                <a:latin typeface="Heiti SC"/>
                <a:ea typeface="Heiti SC"/>
              </a:rPr>
              <a:t>三件测量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23950" y="1676400"/>
            <a:ext cx="23050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每一件都能落成一张图或一张表，别人拿着我们的数据和代码可以重算。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1123950" y="2867025"/>
            <a:ext cx="4191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23950" y="3009900"/>
            <a:ext cx="23050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前两件管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给多少上下文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，第三件管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断在哪一环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。前者决定画什么图，后者决定这张图能不能解释。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23950" y="4162425"/>
            <a:ext cx="2305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共同前提：仿真里做，不需要新硬件。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23950" y="4810125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一台显卡一夜到一天一轮。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3924300" y="342900"/>
            <a:ext cx="7353300" cy="1057275"/>
          </a:xfrm>
          <a:custGeom>
            <a:pathLst>
              <a:path w="772" h="111">
                <a:moveTo>
                  <a:pt x="0" y="110"/>
                </a:moveTo>
                <a:lnTo>
                  <a:pt x="772" y="110"/>
                </a:lnTo>
                <a:lnTo>
                  <a:pt x="772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924300" y="34290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362450" y="342900"/>
            <a:ext cx="6915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预算等值线：在总预算固定下换组合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362450" y="638175"/>
            <a:ext cx="69151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同样是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段上下文，可以是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取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段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，也可以是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取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段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不固定总预算，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多给几条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每条更长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就混在一起，分不清是谁的功劳。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924300" y="2381250"/>
            <a:ext cx="7353300" cy="1057275"/>
          </a:xfrm>
          <a:custGeom>
            <a:pathLst>
              <a:path w="772" h="111">
                <a:moveTo>
                  <a:pt x="0" y="110"/>
                </a:moveTo>
                <a:lnTo>
                  <a:pt x="772" y="110"/>
                </a:lnTo>
                <a:lnTo>
                  <a:pt x="772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924300" y="238125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362450" y="2381250"/>
            <a:ext cx="6915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换算率：一条演示顶多少条训练示范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362450" y="2676525"/>
            <a:ext cx="69151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必须同时报三样：插值规则、相邻测点之间的距离、交叉点的置信区间。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现在唯一公开的数字来自厂商博客，是插值估出来的——换一种插值方式，结果差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14%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924300" y="44100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362450" y="4410075"/>
            <a:ext cx="6915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阶段级归因：把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哪一步断了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变成区间估计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362450" y="4705350"/>
            <a:ext cx="69151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在评测的统计模型里加一个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阶段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项，输出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某方法在某阶段显著更差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以及它的置信区间；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再用真值掩码、真值位姿做反事实校验，防止三种错误互相伪装。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914400" y="5667375"/>
            <a:ext cx="10363200" cy="457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04900" y="57912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C107"/>
                </a:solidFill>
                <a:latin typeface="Microsoft YaHei"/>
                <a:ea typeface="Microsoft YaHei"/>
              </a:rPr>
              <a:t>三条底线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943100" y="5791200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等算力、等数据、检索度量固定——少一条，画出来的曲线就不可解释。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14400" y="6524625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演示即上下文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组会分享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810875" y="649605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1" name="" descr="&lt;Slide style={{ width: 1280, height: 720, background: '#FFFFFF', padding: 0 }}&gt;&#10;    &lt;Box style={{ width: 1280, height: 720, flexDirection: 'column' }}&gt;&#10;        &lt;Box style={{ width: 1280, height: 10, background: '#0E3F8C' }} /&gt;&#10;&#10;        &lt;Box style={{ width: 1280, height: 478, padding: '62px 96px 0 96px', flexDirection: 'column' }}&gt;&#10;            &lt;Text style={{ fontSize: 15, color: '#8B97A8', letterSpacing: 2 }}&gt;一句话总结&lt;/Text&gt;&#10;&#10;            &lt;Box style={{ flexDirection: 'column', marginTop: 16 }}&gt;&#10;                &lt;Text style={{ fontSize: 46, fontWeight: 'bold', color: '#0E3F8C', lineHeight: 1.42, fontFamily: 'Heiti SC' }}&gt;&#10;                    我们不是要做更强的策略，&#10;                    &lt;br /&gt;&#10;                    是要让这条路的强弱&#10;                &lt;/Text&gt;&#10;                &lt;Text style={{ fontSize: 46, fontWeight: 'bold', color: '#D9534F', lineHeight: 1.42, fontFamily: 'Heiti SC' }}&gt;&#10;                    可被测量。&#10;                &lt;/Text&gt;&#10;            &lt;/Box&gt;&#10;&#10;            &lt;Box style={{ width: 96, height: 4, background: '#1E4FA8', marginTop: 24 }} /&gt;&#10;            &lt;Text style={{ fontSize: 19, color: '#4A5568', lineHeight: 1.7, marginTop: 18, width: 900 }}&gt;&#10;                可归因，才谈得上 scaling；可复算，才谈得上领先。&#10;            &lt;/Text&gt;&#10;        &lt;/Box&gt;&#10;&#10;        &lt;Box style={{ width: 1280, height: 148, padding: '0 96px', flexDirection: 'row', gap: 20 }}&gt;&#10;            &lt;Box style={{ flex: 1, background: '#F7F9FC', borderTop: '3px solid #1E4FA8', padding: '16px 18px' }}&gt;&#10;                &lt;Text style={{ fontSize: 15, color: '#8B97A8' }}&gt;需要配合之一&lt;/Text&gt;&#10;                &lt;Text style={{ fontSize: 18, color: '#1A2230', lineHeight: 1.55, marginTop: 6 }}&gt;&#10;                    一段连续的显卡机时，跑完等值线扫描。&#10;                &lt;/Text&gt;&#10;            &lt;/Box&gt;&#10;            &lt;Box style={{ flex: 1, background: '#F7F9FC', borderTop: '3px solid #1E4FA8', padding: '16px 18px' }}&gt;&#10;                &lt;Text style={{ fontSize: 15, color: '#8B97A8' }}&gt;需要配合之二&lt;/Text&gt;&#10;                &lt;Text style={{ fontSize: 18, color: '#1A2230', lineHeight: 1.55, marginTop: 6 }}&gt;&#10;                    Sawyer 的机时窗口，做真机单演示适配。&#10;                &lt;/Text&gt;&#10;            &lt;/Box&gt;&#10;            &lt;Box style={{ flex: 1, background: '#F7F9FC', borderTop: '3px solid #D9534F', padding: '16px 18px' }}&gt;&#10;                &lt;Text style={{ fontSize: 15, color: '#8B97A8' }}&gt;需要配合之三&lt;/Text&gt;&#10;                &lt;Text style={{ fontSize: 18, color: '#1A2230', lineHeight: 1.55, marginTop: 6 }}&gt;&#10;                    对&quot;阶段判据&quot;的评审意见——这一条不能自己说了算。&#10;                &lt;/Text&gt;&#10;            &lt;/Box&gt;&#10;        &lt;/Box&gt;&#10;&#10;        &lt;Box style={{ width: 1280, height: 84, padding: '0 96px 18px 96px', flexDirection: 'row', alignItems: 'flex-end', justifyContent: 'space-between' }}&gt;&#10;            &lt;Text style={{ fontSize: 16, color: '#0E3F8C', fontWeight: 'bold' }}&gt;谢谢，欢迎提问与质疑&lt;/Text&gt;&#10;            &lt;Text style={{ fontSize: 16, fontWeight: 'bold', color: '#1E4FA8' }}&gt;15 / 15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14400" y="685800"/>
            <a:ext cx="1036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8B97A8"/>
                </a:solidFill>
                <a:latin typeface="Microsoft YaHei"/>
                <a:ea typeface="Microsoft YaHei"/>
              </a:rPr>
              <a:t>一句话总结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14400" y="1009650"/>
            <a:ext cx="10363200" cy="1495425"/>
          </a:xfrm>
          <a:prstGeom prst="rect"/>
        </p:spPr>
        <p:txBody>
          <a:bodyPr wrap="none" lIns="0" tIns="0" rIns="0" bIns="0"/>
          <a:p>
            <a:pPr>
              <a:lnSpc>
                <a:spcPct val="142000"/>
              </a:lnSpc>
            </a:pPr>
            <a:r>
              <a:rPr lang="zh-CN" sz="3450" b="1">
                <a:solidFill>
                  <a:srgbClr val="0E3F8C"/>
                </a:solidFill>
                <a:latin typeface="Heiti SC"/>
                <a:ea typeface="Heiti SC"/>
              </a:rPr>
              <a:t>我们不是要做更强的策略，</a:t>
            </a:r>
            <a:endParaRPr/>
          </a:p>
          <a:p>
            <a:pPr>
              <a:lnSpc>
                <a:spcPct val="142000"/>
              </a:lnSpc>
            </a:pPr>
            <a:r>
              <a:rPr lang="zh-CN" sz="3450" b="1">
                <a:solidFill>
                  <a:srgbClr val="0E3F8C"/>
                </a:solidFill>
                <a:latin typeface="Heiti SC"/>
                <a:ea typeface="Heiti SC"/>
              </a:rPr>
              <a:t>是要让这条路的强弱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14400" y="2505075"/>
            <a:ext cx="10363200" cy="752475"/>
          </a:xfrm>
          <a:prstGeom prst="rect"/>
        </p:spPr>
        <p:txBody>
          <a:bodyPr wrap="none" lIns="0" tIns="0" rIns="0" bIns="0"/>
          <a:p>
            <a:pPr>
              <a:lnSpc>
                <a:spcPct val="142000"/>
              </a:lnSpc>
            </a:pPr>
            <a:r>
              <a:rPr lang="zh-CN" sz="3450" b="1">
                <a:solidFill>
                  <a:srgbClr val="D9534F"/>
                </a:solidFill>
                <a:latin typeface="Heiti SC"/>
                <a:ea typeface="Heiti SC"/>
              </a:rPr>
              <a:t>可被测量。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914400" y="3486150"/>
            <a:ext cx="9144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14400" y="3695700"/>
            <a:ext cx="85725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可归因，才谈得上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scaling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；可复算，才谈得上领先。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914400" y="4676775"/>
            <a:ext cx="3324225" cy="1409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914400" y="4648200"/>
            <a:ext cx="3324225" cy="1438275"/>
          </a:xfrm>
          <a:custGeom>
            <a:pathLst>
              <a:path w="349" h="151">
                <a:moveTo>
                  <a:pt x="0" y="0"/>
                </a:moveTo>
                <a:lnTo>
                  <a:pt x="349" y="0"/>
                </a:lnTo>
                <a:lnTo>
                  <a:pt x="349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85850" y="48291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需要配合之一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085850" y="5057775"/>
            <a:ext cx="29813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一段连续的显卡机时，跑完等值线扫描。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429125" y="4676775"/>
            <a:ext cx="3333750" cy="1409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4429125" y="4648200"/>
            <a:ext cx="3333750" cy="1438275"/>
          </a:xfrm>
          <a:custGeom>
            <a:pathLst>
              <a:path w="350" h="151">
                <a:moveTo>
                  <a:pt x="0" y="0"/>
                </a:moveTo>
                <a:lnTo>
                  <a:pt x="350" y="0"/>
                </a:lnTo>
                <a:lnTo>
                  <a:pt x="350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600575" y="482917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需要配合之二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600575" y="5057775"/>
            <a:ext cx="29908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Sawyer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的机时窗口，做真机单演示适配。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953375" y="4676775"/>
            <a:ext cx="3324225" cy="1409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7953375" y="4648200"/>
            <a:ext cx="3324225" cy="1438275"/>
          </a:xfrm>
          <a:custGeom>
            <a:pathLst>
              <a:path w="349" h="151">
                <a:moveTo>
                  <a:pt x="0" y="0"/>
                </a:moveTo>
                <a:lnTo>
                  <a:pt x="349" y="0"/>
                </a:lnTo>
                <a:lnTo>
                  <a:pt x="349" y="3"/>
                </a:lnTo>
                <a:lnTo>
                  <a:pt x="0" y="3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124825" y="48291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需要配合之三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124825" y="5057775"/>
            <a:ext cx="29813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阶段判据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的评审意见——这一条不能自己说了算。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14400" y="64960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谢谢，欢迎提问与质疑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0810875" y="649605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2026-10-27T18:21:26Z</dcterms:created>
  <dcterms:modified xsi:type="dcterms:W3CDTF">2026-10-27T18:21:26Z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{"AIGC":{"Label":"1","ContentProducer":"00119111010856365494821B355","ProduceID":"01a17c8370847f1baeb342fae6596f2c","ReservedCode1":"","ContentPropagator":"00119111010856365494821B355","PropagateID":"01a17c8370847f1baeb342fae6596f2c","ReservedCode2":""}}</vt:lpwstr>
  </property>
</Properties>
</file>